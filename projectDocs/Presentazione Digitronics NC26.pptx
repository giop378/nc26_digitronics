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65" r:id="rId12"/>
    <p:sldId id="266" r:id="rId13"/>
    <p:sldId id="288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300" r:id="rId26"/>
    <p:sldId id="301" r:id="rId27"/>
    <p:sldId id="279" r:id="rId28"/>
    <p:sldId id="280" r:id="rId29"/>
    <p:sldId id="281" r:id="rId30"/>
    <p:sldId id="299" r:id="rId31"/>
    <p:sldId id="282" r:id="rId32"/>
    <p:sldId id="283" r:id="rId33"/>
    <p:sldId id="284" r:id="rId34"/>
    <p:sldId id="302" r:id="rId35"/>
    <p:sldId id="291" r:id="rId36"/>
    <p:sldId id="294" r:id="rId37"/>
    <p:sldId id="285" r:id="rId38"/>
    <p:sldId id="303" r:id="rId3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9F5A946-F792-46B6-BE09-8D607BC1E1CA}">
          <p14:sldIdLst>
            <p14:sldId id="256"/>
            <p14:sldId id="257"/>
            <p14:sldId id="258"/>
          </p14:sldIdLst>
        </p14:section>
        <p14:section name="Sezione senza titolo" id="{FA067B39-E670-4479-8701-D8AC70F0D3F4}">
          <p14:sldIdLst>
            <p14:sldId id="259"/>
            <p14:sldId id="260"/>
            <p14:sldId id="261"/>
            <p14:sldId id="262"/>
            <p14:sldId id="263"/>
            <p14:sldId id="264"/>
            <p14:sldId id="287"/>
            <p14:sldId id="265"/>
            <p14:sldId id="266"/>
            <p14:sldId id="288"/>
            <p14:sldId id="268"/>
            <p14:sldId id="269"/>
            <p14:sldId id="270"/>
          </p14:sldIdLst>
        </p14:section>
        <p14:section name="SDD" id="{C63CA948-4F9D-4B2E-AEB5-9F675AE327CF}">
          <p14:sldIdLst>
            <p14:sldId id="271"/>
            <p14:sldId id="272"/>
            <p14:sldId id="273"/>
            <p14:sldId id="275"/>
            <p14:sldId id="274"/>
            <p14:sldId id="276"/>
            <p14:sldId id="277"/>
            <p14:sldId id="278"/>
            <p14:sldId id="300"/>
            <p14:sldId id="301"/>
          </p14:sldIdLst>
        </p14:section>
        <p14:section name="Design pattern" id="{976ECBB3-DD0D-4EA2-9C05-BE5D5FF92D28}">
          <p14:sldIdLst>
            <p14:sldId id="279"/>
            <p14:sldId id="280"/>
          </p14:sldIdLst>
        </p14:section>
        <p14:section name="Test plan" id="{5AA1AB1B-0B11-46A1-ACA8-787104FAEDBC}">
          <p14:sldIdLst>
            <p14:sldId id="281"/>
            <p14:sldId id="299"/>
            <p14:sldId id="282"/>
          </p14:sldIdLst>
        </p14:section>
        <p14:section name="TCS" id="{343F864E-D462-4E87-BD7A-5354F18CCB69}">
          <p14:sldIdLst>
            <p14:sldId id="283"/>
          </p14:sldIdLst>
        </p14:section>
        <p14:section name="TIR" id="{6274D1BA-AD33-458B-AF55-FA079AD00632}">
          <p14:sldIdLst>
            <p14:sldId id="284"/>
            <p14:sldId id="302"/>
            <p14:sldId id="291"/>
            <p14:sldId id="294"/>
          </p14:sldIdLst>
        </p14:section>
        <p14:section name="TSR" id="{5F35501C-151E-4E9E-B047-9FB186F45523}">
          <p14:sldIdLst>
            <p14:sldId id="285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C5216-58B1-4F2B-A158-43738C883997}" v="120" dt="2025-01-22T09:53:36.681"/>
    <p1510:client id="{4A15C2B2-2C16-8811-9D1B-E8136143447D}" v="67" dt="2025-01-21T19:11:36.911"/>
    <p1510:client id="{93829176-9EC0-A402-77C9-C2CC92082EED}" v="1" dt="2025-01-23T09:18:03.122"/>
    <p1510:client id="{966A5DFA-41FA-E807-3C7C-64A38B0C71ED}" v="197" dt="2025-01-22T21:13:35.108"/>
    <p1510:client id="{9DE811CC-1471-01A5-081F-D89344CF02F8}" v="92" dt="2025-01-22T13:35:10.595"/>
    <p1510:client id="{DAD57981-68AC-304A-A8FD-60B622CF5699}" v="499" dt="2025-01-22T15:43:32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AA49F1-D744-4524-A73E-2F3EFBFD26D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70A2843-22EC-4EA3-A979-31C782917CD0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sistema</a:t>
          </a:r>
          <a:endParaRPr lang="it-IT"/>
        </a:p>
      </dgm:t>
    </dgm:pt>
    <dgm:pt modelId="{EE0DC0DF-0ADF-4F1D-B807-08D049F7D4DA}" type="parTrans" cxnId="{6487A904-0123-48DE-83E5-5854883D283A}">
      <dgm:prSet/>
      <dgm:spPr/>
    </dgm:pt>
    <dgm:pt modelId="{CE08A6C8-BFD5-4CB4-8FD9-D403DACD9244}" type="sibTrans" cxnId="{6487A904-0123-48DE-83E5-5854883D283A}">
      <dgm:prSet/>
      <dgm:spPr/>
    </dgm:pt>
    <dgm:pt modelId="{D0B7E164-FBE4-4426-BE25-4BC04730CBFC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integrazione</a:t>
          </a:r>
          <a:endParaRPr lang="it-IT"/>
        </a:p>
      </dgm:t>
    </dgm:pt>
    <dgm:pt modelId="{F0E64F79-393B-4C94-8D1C-12C1B555FEC6}" type="parTrans" cxnId="{91A2D161-798F-44EA-A5D4-54FB4938CA50}">
      <dgm:prSet/>
      <dgm:spPr/>
    </dgm:pt>
    <dgm:pt modelId="{1739AE41-3EB4-45CC-AF7A-DB46893AB59C}" type="sibTrans" cxnId="{91A2D161-798F-44EA-A5D4-54FB4938CA50}">
      <dgm:prSet/>
      <dgm:spPr/>
    </dgm:pt>
    <dgm:pt modelId="{A060E71D-02DA-4DCF-BBB9-45E64C57F657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unità</a:t>
          </a:r>
          <a:endParaRPr lang="it-IT"/>
        </a:p>
      </dgm:t>
    </dgm:pt>
    <dgm:pt modelId="{1615D576-2408-44A4-A695-05E7E3153105}" type="parTrans" cxnId="{03982820-EDF8-44CF-AB4A-50100B97AB4D}">
      <dgm:prSet/>
      <dgm:spPr/>
    </dgm:pt>
    <dgm:pt modelId="{DE301D5D-F7CA-45AE-94AF-632F56F33DFF}" type="sibTrans" cxnId="{03982820-EDF8-44CF-AB4A-50100B97AB4D}">
      <dgm:prSet/>
      <dgm:spPr/>
    </dgm:pt>
    <dgm:pt modelId="{D7DBE370-9918-4344-9FB2-A6571085EFE9}" type="pres">
      <dgm:prSet presAssocID="{C5AA49F1-D744-4524-A73E-2F3EFBFD26DD}" presName="Name0" presStyleCnt="0">
        <dgm:presLayoutVars>
          <dgm:dir/>
          <dgm:animLvl val="lvl"/>
          <dgm:resizeHandles val="exact"/>
        </dgm:presLayoutVars>
      </dgm:prSet>
      <dgm:spPr/>
    </dgm:pt>
    <dgm:pt modelId="{D90EADC5-1969-4B40-8124-67DEADE6191E}" type="pres">
      <dgm:prSet presAssocID="{B70A2843-22EC-4EA3-A979-31C782917CD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EBB14F3-5EF2-40B9-81AD-13D9FAD2D005}" type="pres">
      <dgm:prSet presAssocID="{CE08A6C8-BFD5-4CB4-8FD9-D403DACD9244}" presName="parTxOnlySpace" presStyleCnt="0"/>
      <dgm:spPr/>
    </dgm:pt>
    <dgm:pt modelId="{6A41EB27-605A-4A30-B29A-F7C7FA6F2971}" type="pres">
      <dgm:prSet presAssocID="{D0B7E164-FBE4-4426-BE25-4BC04730CBFC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0FA5031-4697-4530-88E9-8D3A3B62485E}" type="pres">
      <dgm:prSet presAssocID="{1739AE41-3EB4-45CC-AF7A-DB46893AB59C}" presName="parTxOnlySpace" presStyleCnt="0"/>
      <dgm:spPr/>
    </dgm:pt>
    <dgm:pt modelId="{E03271F8-3571-4E71-B4D3-B87F0B5A7F1C}" type="pres">
      <dgm:prSet presAssocID="{A060E71D-02DA-4DCF-BBB9-45E64C57F65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487A904-0123-48DE-83E5-5854883D283A}" srcId="{C5AA49F1-D744-4524-A73E-2F3EFBFD26DD}" destId="{B70A2843-22EC-4EA3-A979-31C782917CD0}" srcOrd="0" destOrd="0" parTransId="{EE0DC0DF-0ADF-4F1D-B807-08D049F7D4DA}" sibTransId="{CE08A6C8-BFD5-4CB4-8FD9-D403DACD9244}"/>
    <dgm:cxn modelId="{03982820-EDF8-44CF-AB4A-50100B97AB4D}" srcId="{C5AA49F1-D744-4524-A73E-2F3EFBFD26DD}" destId="{A060E71D-02DA-4DCF-BBB9-45E64C57F657}" srcOrd="2" destOrd="0" parTransId="{1615D576-2408-44A4-A695-05E7E3153105}" sibTransId="{DE301D5D-F7CA-45AE-94AF-632F56F33DFF}"/>
    <dgm:cxn modelId="{77A4CC36-CEE0-46C7-9D42-2D6A5CDCD038}" type="presOf" srcId="{B70A2843-22EC-4EA3-A979-31C782917CD0}" destId="{D90EADC5-1969-4B40-8124-67DEADE6191E}" srcOrd="0" destOrd="0" presId="urn:microsoft.com/office/officeart/2005/8/layout/chevron1"/>
    <dgm:cxn modelId="{91A2D161-798F-44EA-A5D4-54FB4938CA50}" srcId="{C5AA49F1-D744-4524-A73E-2F3EFBFD26DD}" destId="{D0B7E164-FBE4-4426-BE25-4BC04730CBFC}" srcOrd="1" destOrd="0" parTransId="{F0E64F79-393B-4C94-8D1C-12C1B555FEC6}" sibTransId="{1739AE41-3EB4-45CC-AF7A-DB46893AB59C}"/>
    <dgm:cxn modelId="{875BDF6B-3345-4D87-977D-E1D7D8DE9B0A}" type="presOf" srcId="{D0B7E164-FBE4-4426-BE25-4BC04730CBFC}" destId="{6A41EB27-605A-4A30-B29A-F7C7FA6F2971}" srcOrd="0" destOrd="0" presId="urn:microsoft.com/office/officeart/2005/8/layout/chevron1"/>
    <dgm:cxn modelId="{5667B054-6596-46D4-8801-7655C4FC0400}" type="presOf" srcId="{A060E71D-02DA-4DCF-BBB9-45E64C57F657}" destId="{E03271F8-3571-4E71-B4D3-B87F0B5A7F1C}" srcOrd="0" destOrd="0" presId="urn:microsoft.com/office/officeart/2005/8/layout/chevron1"/>
    <dgm:cxn modelId="{1D99E058-6EF8-4598-BA08-1F4B6867C684}" type="presOf" srcId="{C5AA49F1-D744-4524-A73E-2F3EFBFD26DD}" destId="{D7DBE370-9918-4344-9FB2-A6571085EFE9}" srcOrd="0" destOrd="0" presId="urn:microsoft.com/office/officeart/2005/8/layout/chevron1"/>
    <dgm:cxn modelId="{83C0D581-C061-4EE5-8A2B-FEF95F14B605}" type="presParOf" srcId="{D7DBE370-9918-4344-9FB2-A6571085EFE9}" destId="{D90EADC5-1969-4B40-8124-67DEADE6191E}" srcOrd="0" destOrd="0" presId="urn:microsoft.com/office/officeart/2005/8/layout/chevron1"/>
    <dgm:cxn modelId="{ADEDC19C-B636-48C5-BFA3-3E325BDEB580}" type="presParOf" srcId="{D7DBE370-9918-4344-9FB2-A6571085EFE9}" destId="{FEBB14F3-5EF2-40B9-81AD-13D9FAD2D005}" srcOrd="1" destOrd="0" presId="urn:microsoft.com/office/officeart/2005/8/layout/chevron1"/>
    <dgm:cxn modelId="{CF3AA388-850D-471C-8DE4-5E87EF5B1900}" type="presParOf" srcId="{D7DBE370-9918-4344-9FB2-A6571085EFE9}" destId="{6A41EB27-605A-4A30-B29A-F7C7FA6F2971}" srcOrd="2" destOrd="0" presId="urn:microsoft.com/office/officeart/2005/8/layout/chevron1"/>
    <dgm:cxn modelId="{BFF3BD92-635F-4D05-83A2-7819D604E46E}" type="presParOf" srcId="{D7DBE370-9918-4344-9FB2-A6571085EFE9}" destId="{30FA5031-4697-4530-88E9-8D3A3B62485E}" srcOrd="3" destOrd="0" presId="urn:microsoft.com/office/officeart/2005/8/layout/chevron1"/>
    <dgm:cxn modelId="{ED9F7337-ECC5-48B8-8CA2-0AEDB6D3A0A6}" type="presParOf" srcId="{D7DBE370-9918-4344-9FB2-A6571085EFE9}" destId="{E03271F8-3571-4E71-B4D3-B87F0B5A7F1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92629D-E356-4530-88FB-84DEDBA7E4D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FE9F7BE-93EB-4427-93A8-371157C5993F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unità</a:t>
          </a:r>
          <a:endParaRPr lang="it-IT"/>
        </a:p>
      </dgm:t>
    </dgm:pt>
    <dgm:pt modelId="{2CEA9A9A-B413-4664-9BCA-2320F83217D6}" type="parTrans" cxnId="{98B56F37-C0DE-4A36-B650-2A95C55FF47C}">
      <dgm:prSet/>
      <dgm:spPr/>
    </dgm:pt>
    <dgm:pt modelId="{3F0BBFD5-830A-4157-A73C-58A3512614FE}" type="sibTrans" cxnId="{98B56F37-C0DE-4A36-B650-2A95C55FF47C}">
      <dgm:prSet/>
      <dgm:spPr/>
    </dgm:pt>
    <dgm:pt modelId="{56FED57A-9B10-47F1-860D-0DC5F7876339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integrazione</a:t>
          </a:r>
          <a:endParaRPr lang="it-IT"/>
        </a:p>
      </dgm:t>
    </dgm:pt>
    <dgm:pt modelId="{1DDF83DC-BA1E-4526-B449-EFC796304803}" type="parTrans" cxnId="{F2AE8EC4-EFAF-4455-8C02-E738167D2D92}">
      <dgm:prSet/>
      <dgm:spPr/>
    </dgm:pt>
    <dgm:pt modelId="{B46E2445-8B54-4E6D-B327-2A553CF279E6}" type="sibTrans" cxnId="{F2AE8EC4-EFAF-4455-8C02-E738167D2D92}">
      <dgm:prSet/>
      <dgm:spPr/>
    </dgm:pt>
    <dgm:pt modelId="{481C08BB-DCE7-48DC-870D-EF24DB7965FE}">
      <dgm:prSet phldrT="[Testo]" phldr="0"/>
      <dgm:spPr/>
      <dgm:t>
        <a:bodyPr/>
        <a:lstStyle/>
        <a:p>
          <a:pPr rtl="0"/>
          <a:r>
            <a:rPr lang="it-IT">
              <a:latin typeface="Avenir Next LT Pro"/>
            </a:rPr>
            <a:t>Testing di sistema</a:t>
          </a:r>
          <a:endParaRPr lang="it-IT"/>
        </a:p>
      </dgm:t>
    </dgm:pt>
    <dgm:pt modelId="{32D9C366-E7CF-4BFE-926B-A7877661BF96}" type="parTrans" cxnId="{5A6E8011-12E9-4DCE-BB25-690680EB5EC0}">
      <dgm:prSet/>
      <dgm:spPr/>
    </dgm:pt>
    <dgm:pt modelId="{2DBED477-60BE-4154-B849-D2A01425C890}" type="sibTrans" cxnId="{5A6E8011-12E9-4DCE-BB25-690680EB5EC0}">
      <dgm:prSet/>
      <dgm:spPr/>
    </dgm:pt>
    <dgm:pt modelId="{EE27CF0B-D1EF-4D9C-BF33-784F40BACAFD}" type="pres">
      <dgm:prSet presAssocID="{6D92629D-E356-4530-88FB-84DEDBA7E4DA}" presName="Name0" presStyleCnt="0">
        <dgm:presLayoutVars>
          <dgm:dir/>
          <dgm:animLvl val="lvl"/>
          <dgm:resizeHandles val="exact"/>
        </dgm:presLayoutVars>
      </dgm:prSet>
      <dgm:spPr/>
    </dgm:pt>
    <dgm:pt modelId="{5F91B899-9822-4B8C-963A-82C62B0316B8}" type="pres">
      <dgm:prSet presAssocID="{CFE9F7BE-93EB-4427-93A8-371157C5993F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8343AF5-E998-4B1E-9CFF-20AF03365AA8}" type="pres">
      <dgm:prSet presAssocID="{3F0BBFD5-830A-4157-A73C-58A3512614FE}" presName="parTxOnlySpace" presStyleCnt="0"/>
      <dgm:spPr/>
    </dgm:pt>
    <dgm:pt modelId="{E53F5D62-0A87-4039-8F66-6DA5E2A7DD15}" type="pres">
      <dgm:prSet presAssocID="{56FED57A-9B10-47F1-860D-0DC5F787633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2F3D813-510D-4F7F-8076-54CD384C50CC}" type="pres">
      <dgm:prSet presAssocID="{B46E2445-8B54-4E6D-B327-2A553CF279E6}" presName="parTxOnlySpace" presStyleCnt="0"/>
      <dgm:spPr/>
    </dgm:pt>
    <dgm:pt modelId="{F8DA1715-92D2-4102-89AE-49DCF286907B}" type="pres">
      <dgm:prSet presAssocID="{481C08BB-DCE7-48DC-870D-EF24DB7965F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8624E06-CC94-4117-91F4-B9A4C5C005D5}" type="presOf" srcId="{CFE9F7BE-93EB-4427-93A8-371157C5993F}" destId="{5F91B899-9822-4B8C-963A-82C62B0316B8}" srcOrd="0" destOrd="0" presId="urn:microsoft.com/office/officeart/2005/8/layout/chevron1"/>
    <dgm:cxn modelId="{5A6E8011-12E9-4DCE-BB25-690680EB5EC0}" srcId="{6D92629D-E356-4530-88FB-84DEDBA7E4DA}" destId="{481C08BB-DCE7-48DC-870D-EF24DB7965FE}" srcOrd="2" destOrd="0" parTransId="{32D9C366-E7CF-4BFE-926B-A7877661BF96}" sibTransId="{2DBED477-60BE-4154-B849-D2A01425C890}"/>
    <dgm:cxn modelId="{98B56F37-C0DE-4A36-B650-2A95C55FF47C}" srcId="{6D92629D-E356-4530-88FB-84DEDBA7E4DA}" destId="{CFE9F7BE-93EB-4427-93A8-371157C5993F}" srcOrd="0" destOrd="0" parTransId="{2CEA9A9A-B413-4664-9BCA-2320F83217D6}" sibTransId="{3F0BBFD5-830A-4157-A73C-58A3512614FE}"/>
    <dgm:cxn modelId="{F0AC3567-41A5-4625-B9AE-51E146008136}" type="presOf" srcId="{56FED57A-9B10-47F1-860D-0DC5F7876339}" destId="{E53F5D62-0A87-4039-8F66-6DA5E2A7DD15}" srcOrd="0" destOrd="0" presId="urn:microsoft.com/office/officeart/2005/8/layout/chevron1"/>
    <dgm:cxn modelId="{DDBB8549-5A4B-43D5-8081-90D4F32A884F}" type="presOf" srcId="{481C08BB-DCE7-48DC-870D-EF24DB7965FE}" destId="{F8DA1715-92D2-4102-89AE-49DCF286907B}" srcOrd="0" destOrd="0" presId="urn:microsoft.com/office/officeart/2005/8/layout/chevron1"/>
    <dgm:cxn modelId="{FA2C2276-0D1B-438D-89BD-31001DB0C149}" type="presOf" srcId="{6D92629D-E356-4530-88FB-84DEDBA7E4DA}" destId="{EE27CF0B-D1EF-4D9C-BF33-784F40BACAFD}" srcOrd="0" destOrd="0" presId="urn:microsoft.com/office/officeart/2005/8/layout/chevron1"/>
    <dgm:cxn modelId="{F2AE8EC4-EFAF-4455-8C02-E738167D2D92}" srcId="{6D92629D-E356-4530-88FB-84DEDBA7E4DA}" destId="{56FED57A-9B10-47F1-860D-0DC5F7876339}" srcOrd="1" destOrd="0" parTransId="{1DDF83DC-BA1E-4526-B449-EFC796304803}" sibTransId="{B46E2445-8B54-4E6D-B327-2A553CF279E6}"/>
    <dgm:cxn modelId="{CF45D8F0-C590-4537-8D23-EA06C9AC21E8}" type="presParOf" srcId="{EE27CF0B-D1EF-4D9C-BF33-784F40BACAFD}" destId="{5F91B899-9822-4B8C-963A-82C62B0316B8}" srcOrd="0" destOrd="0" presId="urn:microsoft.com/office/officeart/2005/8/layout/chevron1"/>
    <dgm:cxn modelId="{EF047E66-575C-453D-96E9-AA69012EB0BE}" type="presParOf" srcId="{EE27CF0B-D1EF-4D9C-BF33-784F40BACAFD}" destId="{A8343AF5-E998-4B1E-9CFF-20AF03365AA8}" srcOrd="1" destOrd="0" presId="urn:microsoft.com/office/officeart/2005/8/layout/chevron1"/>
    <dgm:cxn modelId="{5B1C2301-5C50-417C-93DB-6FB86BD4CEB5}" type="presParOf" srcId="{EE27CF0B-D1EF-4D9C-BF33-784F40BACAFD}" destId="{E53F5D62-0A87-4039-8F66-6DA5E2A7DD15}" srcOrd="2" destOrd="0" presId="urn:microsoft.com/office/officeart/2005/8/layout/chevron1"/>
    <dgm:cxn modelId="{52AC893C-D347-454B-9031-9F22AC7C0CE6}" type="presParOf" srcId="{EE27CF0B-D1EF-4D9C-BF33-784F40BACAFD}" destId="{62F3D813-510D-4F7F-8076-54CD384C50CC}" srcOrd="3" destOrd="0" presId="urn:microsoft.com/office/officeart/2005/8/layout/chevron1"/>
    <dgm:cxn modelId="{5FD63192-214E-4DAC-8414-70F1663B9500}" type="presParOf" srcId="{EE27CF0B-D1EF-4D9C-BF33-784F40BACAFD}" destId="{F8DA1715-92D2-4102-89AE-49DCF286907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6804E1-AF8D-4DC0-B7A2-324E31D32F1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88066627-E4CF-437C-BF41-AD6153E8FBED}">
      <dgm:prSet phldrT="[Testo]"/>
      <dgm:spPr/>
      <dgm:t>
        <a:bodyPr/>
        <a:lstStyle/>
        <a:p>
          <a:r>
            <a:rPr lang="it-IT"/>
            <a:t>DAO</a:t>
          </a:r>
        </a:p>
      </dgm:t>
    </dgm:pt>
    <dgm:pt modelId="{22152B6F-9E87-44CD-876F-2E3D8BB10BC1}" type="parTrans" cxnId="{E2E7B342-3601-4AC3-9D38-78C4C4EB9122}">
      <dgm:prSet/>
      <dgm:spPr/>
      <dgm:t>
        <a:bodyPr/>
        <a:lstStyle/>
        <a:p>
          <a:endParaRPr lang="it-IT"/>
        </a:p>
      </dgm:t>
    </dgm:pt>
    <dgm:pt modelId="{CE6CD01F-9A7A-41CA-9EA9-F99AF9C8E0E0}" type="sibTrans" cxnId="{E2E7B342-3601-4AC3-9D38-78C4C4EB9122}">
      <dgm:prSet/>
      <dgm:spPr/>
      <dgm:t>
        <a:bodyPr/>
        <a:lstStyle/>
        <a:p>
          <a:endParaRPr lang="it-IT"/>
        </a:p>
      </dgm:t>
    </dgm:pt>
    <dgm:pt modelId="{D2E3B3EC-799B-46EF-ACF7-6FA33DC8F65E}">
      <dgm:prSet phldrT="[Testo]"/>
      <dgm:spPr/>
      <dgm:t>
        <a:bodyPr/>
        <a:lstStyle/>
        <a:p>
          <a:r>
            <a:rPr lang="it-IT"/>
            <a:t>Service</a:t>
          </a:r>
        </a:p>
      </dgm:t>
    </dgm:pt>
    <dgm:pt modelId="{8FC375E4-2780-4FA4-8EF0-F794C86537E1}" type="parTrans" cxnId="{DC4FC2F5-ED2B-4EF5-9821-10EAB1DE396E}">
      <dgm:prSet/>
      <dgm:spPr/>
      <dgm:t>
        <a:bodyPr/>
        <a:lstStyle/>
        <a:p>
          <a:endParaRPr lang="it-IT"/>
        </a:p>
      </dgm:t>
    </dgm:pt>
    <dgm:pt modelId="{FE30A2AF-84B1-4C0C-9B1B-9FF029A06AE0}" type="sibTrans" cxnId="{DC4FC2F5-ED2B-4EF5-9821-10EAB1DE396E}">
      <dgm:prSet/>
      <dgm:spPr/>
      <dgm:t>
        <a:bodyPr/>
        <a:lstStyle/>
        <a:p>
          <a:endParaRPr lang="it-IT"/>
        </a:p>
      </dgm:t>
    </dgm:pt>
    <dgm:pt modelId="{8171CC46-1CDF-44DB-8A5C-66C1AB99715A}" type="pres">
      <dgm:prSet presAssocID="{3C6804E1-AF8D-4DC0-B7A2-324E31D32F1F}" presName="Name0" presStyleCnt="0">
        <dgm:presLayoutVars>
          <dgm:dir/>
          <dgm:animLvl val="lvl"/>
          <dgm:resizeHandles val="exact"/>
        </dgm:presLayoutVars>
      </dgm:prSet>
      <dgm:spPr/>
    </dgm:pt>
    <dgm:pt modelId="{D54C590F-F233-451B-9DA9-F9639683E0B7}" type="pres">
      <dgm:prSet presAssocID="{88066627-E4CF-437C-BF41-AD6153E8FBED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68B53A54-3F25-4141-BC00-159E05A59587}" type="pres">
      <dgm:prSet presAssocID="{CE6CD01F-9A7A-41CA-9EA9-F99AF9C8E0E0}" presName="parTxOnlySpace" presStyleCnt="0"/>
      <dgm:spPr/>
    </dgm:pt>
    <dgm:pt modelId="{E68DA1EF-4C4F-4B10-831B-63D935647F12}" type="pres">
      <dgm:prSet presAssocID="{D2E3B3EC-799B-46EF-ACF7-6FA33DC8F65E}" presName="parTxOnly" presStyleLbl="node1" presStyleIdx="1" presStyleCnt="2" custLinFactNeighborY="0">
        <dgm:presLayoutVars>
          <dgm:chMax val="0"/>
          <dgm:chPref val="0"/>
          <dgm:bulletEnabled val="1"/>
        </dgm:presLayoutVars>
      </dgm:prSet>
      <dgm:spPr/>
    </dgm:pt>
  </dgm:ptLst>
  <dgm:cxnLst>
    <dgm:cxn modelId="{435C4941-2D36-4C57-AAB5-FA746DD4364C}" type="presOf" srcId="{D2E3B3EC-799B-46EF-ACF7-6FA33DC8F65E}" destId="{E68DA1EF-4C4F-4B10-831B-63D935647F12}" srcOrd="0" destOrd="0" presId="urn:microsoft.com/office/officeart/2005/8/layout/chevron1"/>
    <dgm:cxn modelId="{E2E7B342-3601-4AC3-9D38-78C4C4EB9122}" srcId="{3C6804E1-AF8D-4DC0-B7A2-324E31D32F1F}" destId="{88066627-E4CF-437C-BF41-AD6153E8FBED}" srcOrd="0" destOrd="0" parTransId="{22152B6F-9E87-44CD-876F-2E3D8BB10BC1}" sibTransId="{CE6CD01F-9A7A-41CA-9EA9-F99AF9C8E0E0}"/>
    <dgm:cxn modelId="{8FF31AAB-0E67-4109-9B3C-B809FAF36E63}" type="presOf" srcId="{88066627-E4CF-437C-BF41-AD6153E8FBED}" destId="{D54C590F-F233-451B-9DA9-F9639683E0B7}" srcOrd="0" destOrd="0" presId="urn:microsoft.com/office/officeart/2005/8/layout/chevron1"/>
    <dgm:cxn modelId="{CBEED5CD-7380-4CDA-83D4-8FDCB8D32F84}" type="presOf" srcId="{3C6804E1-AF8D-4DC0-B7A2-324E31D32F1F}" destId="{8171CC46-1CDF-44DB-8A5C-66C1AB99715A}" srcOrd="0" destOrd="0" presId="urn:microsoft.com/office/officeart/2005/8/layout/chevron1"/>
    <dgm:cxn modelId="{DC4FC2F5-ED2B-4EF5-9821-10EAB1DE396E}" srcId="{3C6804E1-AF8D-4DC0-B7A2-324E31D32F1F}" destId="{D2E3B3EC-799B-46EF-ACF7-6FA33DC8F65E}" srcOrd="1" destOrd="0" parTransId="{8FC375E4-2780-4FA4-8EF0-F794C86537E1}" sibTransId="{FE30A2AF-84B1-4C0C-9B1B-9FF029A06AE0}"/>
    <dgm:cxn modelId="{DB43BF3C-9DD5-4515-868A-0DE133CCDC38}" type="presParOf" srcId="{8171CC46-1CDF-44DB-8A5C-66C1AB99715A}" destId="{D54C590F-F233-451B-9DA9-F9639683E0B7}" srcOrd="0" destOrd="0" presId="urn:microsoft.com/office/officeart/2005/8/layout/chevron1"/>
    <dgm:cxn modelId="{571B6387-C6F5-4ED3-9906-99A885744348}" type="presParOf" srcId="{8171CC46-1CDF-44DB-8A5C-66C1AB99715A}" destId="{68B53A54-3F25-4141-BC00-159E05A59587}" srcOrd="1" destOrd="0" presId="urn:microsoft.com/office/officeart/2005/8/layout/chevron1"/>
    <dgm:cxn modelId="{F8B24CAE-4F59-4347-9B2C-67E649F59126}" type="presParOf" srcId="{8171CC46-1CDF-44DB-8A5C-66C1AB99715A}" destId="{E68DA1EF-4C4F-4B10-831B-63D935647F12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6A9F76-DDBA-4217-8F52-C9897C591BA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52C4C6E-29F7-460D-8853-099A0954DFC9}">
      <dgm:prSet phldrT="[Testo]"/>
      <dgm:spPr/>
      <dgm:t>
        <a:bodyPr/>
        <a:lstStyle/>
        <a:p>
          <a:r>
            <a:rPr lang="it-IT"/>
            <a:t>DAO</a:t>
          </a:r>
        </a:p>
      </dgm:t>
    </dgm:pt>
    <dgm:pt modelId="{C2EB619E-5497-4AE1-AE09-F9B7836D1050}" type="parTrans" cxnId="{A9E77541-20D6-412A-B07D-3528944F6775}">
      <dgm:prSet/>
      <dgm:spPr/>
      <dgm:t>
        <a:bodyPr/>
        <a:lstStyle/>
        <a:p>
          <a:endParaRPr lang="it-IT"/>
        </a:p>
      </dgm:t>
    </dgm:pt>
    <dgm:pt modelId="{F6335266-22E3-45C7-9EB8-AF91ED52EFDF}" type="sibTrans" cxnId="{A9E77541-20D6-412A-B07D-3528944F6775}">
      <dgm:prSet/>
      <dgm:spPr/>
      <dgm:t>
        <a:bodyPr/>
        <a:lstStyle/>
        <a:p>
          <a:endParaRPr lang="it-IT"/>
        </a:p>
      </dgm:t>
    </dgm:pt>
    <dgm:pt modelId="{6FC466A9-0127-4944-8CFE-38C6F6B04C1C}">
      <dgm:prSet phldrT="[Testo]"/>
      <dgm:spPr/>
      <dgm:t>
        <a:bodyPr/>
        <a:lstStyle/>
        <a:p>
          <a:r>
            <a:rPr lang="it-IT"/>
            <a:t>Service</a:t>
          </a:r>
        </a:p>
      </dgm:t>
    </dgm:pt>
    <dgm:pt modelId="{8728D57A-B26E-4A1F-AB63-0DBE450B1905}" type="parTrans" cxnId="{665C1472-7FEA-4940-857D-EE1BE3DA5882}">
      <dgm:prSet/>
      <dgm:spPr/>
      <dgm:t>
        <a:bodyPr/>
        <a:lstStyle/>
        <a:p>
          <a:endParaRPr lang="it-IT"/>
        </a:p>
      </dgm:t>
    </dgm:pt>
    <dgm:pt modelId="{D7A20625-83FF-42C7-BC93-633B1B88F995}" type="sibTrans" cxnId="{665C1472-7FEA-4940-857D-EE1BE3DA5882}">
      <dgm:prSet/>
      <dgm:spPr/>
      <dgm:t>
        <a:bodyPr/>
        <a:lstStyle/>
        <a:p>
          <a:endParaRPr lang="it-IT"/>
        </a:p>
      </dgm:t>
    </dgm:pt>
    <dgm:pt modelId="{D5613155-0F53-426C-B55F-EFF69B0D411E}">
      <dgm:prSet phldrT="[Testo]"/>
      <dgm:spPr/>
      <dgm:t>
        <a:bodyPr/>
        <a:lstStyle/>
        <a:p>
          <a:r>
            <a:rPr lang="it-IT"/>
            <a:t>Controller</a:t>
          </a:r>
        </a:p>
      </dgm:t>
    </dgm:pt>
    <dgm:pt modelId="{B02257D5-7F38-462B-AD2C-6955EE4442CE}" type="parTrans" cxnId="{16ABE0F9-AF9C-4F3D-843D-3BEEFBE3064F}">
      <dgm:prSet/>
      <dgm:spPr/>
      <dgm:t>
        <a:bodyPr/>
        <a:lstStyle/>
        <a:p>
          <a:endParaRPr lang="it-IT"/>
        </a:p>
      </dgm:t>
    </dgm:pt>
    <dgm:pt modelId="{10AB37CA-7D90-4A5D-A628-235CBBA24943}" type="sibTrans" cxnId="{16ABE0F9-AF9C-4F3D-843D-3BEEFBE3064F}">
      <dgm:prSet/>
      <dgm:spPr/>
      <dgm:t>
        <a:bodyPr/>
        <a:lstStyle/>
        <a:p>
          <a:endParaRPr lang="it-IT"/>
        </a:p>
      </dgm:t>
    </dgm:pt>
    <dgm:pt modelId="{69DC7B74-8A30-49E6-8411-8614A8DC66E9}" type="pres">
      <dgm:prSet presAssocID="{B86A9F76-DDBA-4217-8F52-C9897C591BAF}" presName="Name0" presStyleCnt="0">
        <dgm:presLayoutVars>
          <dgm:dir/>
          <dgm:animLvl val="lvl"/>
          <dgm:resizeHandles val="exact"/>
        </dgm:presLayoutVars>
      </dgm:prSet>
      <dgm:spPr/>
    </dgm:pt>
    <dgm:pt modelId="{4312E24D-EF22-4F2D-BB1C-672C23FC84AB}" type="pres">
      <dgm:prSet presAssocID="{652C4C6E-29F7-460D-8853-099A0954DFC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57124DA-4139-4265-ACFF-1B3000628442}" type="pres">
      <dgm:prSet presAssocID="{F6335266-22E3-45C7-9EB8-AF91ED52EFDF}" presName="parTxOnlySpace" presStyleCnt="0"/>
      <dgm:spPr/>
    </dgm:pt>
    <dgm:pt modelId="{10ADAB25-7098-4FCE-8B13-1C20FEE7C6E7}" type="pres">
      <dgm:prSet presAssocID="{6FC466A9-0127-4944-8CFE-38C6F6B04C1C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84BF790-2B37-4D16-96F3-435B56353707}" type="pres">
      <dgm:prSet presAssocID="{D7A20625-83FF-42C7-BC93-633B1B88F995}" presName="parTxOnlySpace" presStyleCnt="0"/>
      <dgm:spPr/>
    </dgm:pt>
    <dgm:pt modelId="{AA256F36-4AF7-4F58-BDB8-EA49DDD1CAF1}" type="pres">
      <dgm:prSet presAssocID="{D5613155-0F53-426C-B55F-EFF69B0D411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6622918-E5DF-4ABC-B8CA-A4743698C24C}" type="presOf" srcId="{D5613155-0F53-426C-B55F-EFF69B0D411E}" destId="{AA256F36-4AF7-4F58-BDB8-EA49DDD1CAF1}" srcOrd="0" destOrd="0" presId="urn:microsoft.com/office/officeart/2005/8/layout/chevron1"/>
    <dgm:cxn modelId="{A9E77541-20D6-412A-B07D-3528944F6775}" srcId="{B86A9F76-DDBA-4217-8F52-C9897C591BAF}" destId="{652C4C6E-29F7-460D-8853-099A0954DFC9}" srcOrd="0" destOrd="0" parTransId="{C2EB619E-5497-4AE1-AE09-F9B7836D1050}" sibTransId="{F6335266-22E3-45C7-9EB8-AF91ED52EFDF}"/>
    <dgm:cxn modelId="{665C1472-7FEA-4940-857D-EE1BE3DA5882}" srcId="{B86A9F76-DDBA-4217-8F52-C9897C591BAF}" destId="{6FC466A9-0127-4944-8CFE-38C6F6B04C1C}" srcOrd="1" destOrd="0" parTransId="{8728D57A-B26E-4A1F-AB63-0DBE450B1905}" sibTransId="{D7A20625-83FF-42C7-BC93-633B1B88F995}"/>
    <dgm:cxn modelId="{923152A2-B708-4376-BF51-DFBE839B454C}" type="presOf" srcId="{6FC466A9-0127-4944-8CFE-38C6F6B04C1C}" destId="{10ADAB25-7098-4FCE-8B13-1C20FEE7C6E7}" srcOrd="0" destOrd="0" presId="urn:microsoft.com/office/officeart/2005/8/layout/chevron1"/>
    <dgm:cxn modelId="{51FB8EA7-A862-47E3-9C51-FFF80EBD17A3}" type="presOf" srcId="{652C4C6E-29F7-460D-8853-099A0954DFC9}" destId="{4312E24D-EF22-4F2D-BB1C-672C23FC84AB}" srcOrd="0" destOrd="0" presId="urn:microsoft.com/office/officeart/2005/8/layout/chevron1"/>
    <dgm:cxn modelId="{0C4FEBE3-E787-4724-B2B8-BE20BB1AFD41}" type="presOf" srcId="{B86A9F76-DDBA-4217-8F52-C9897C591BAF}" destId="{69DC7B74-8A30-49E6-8411-8614A8DC66E9}" srcOrd="0" destOrd="0" presId="urn:microsoft.com/office/officeart/2005/8/layout/chevron1"/>
    <dgm:cxn modelId="{16ABE0F9-AF9C-4F3D-843D-3BEEFBE3064F}" srcId="{B86A9F76-DDBA-4217-8F52-C9897C591BAF}" destId="{D5613155-0F53-426C-B55F-EFF69B0D411E}" srcOrd="2" destOrd="0" parTransId="{B02257D5-7F38-462B-AD2C-6955EE4442CE}" sibTransId="{10AB37CA-7D90-4A5D-A628-235CBBA24943}"/>
    <dgm:cxn modelId="{10AAE64C-2617-4295-B5CA-B78B92FB53BD}" type="presParOf" srcId="{69DC7B74-8A30-49E6-8411-8614A8DC66E9}" destId="{4312E24D-EF22-4F2D-BB1C-672C23FC84AB}" srcOrd="0" destOrd="0" presId="urn:microsoft.com/office/officeart/2005/8/layout/chevron1"/>
    <dgm:cxn modelId="{68965D38-F528-4355-A088-E6642E0DA9F6}" type="presParOf" srcId="{69DC7B74-8A30-49E6-8411-8614A8DC66E9}" destId="{F57124DA-4139-4265-ACFF-1B3000628442}" srcOrd="1" destOrd="0" presId="urn:microsoft.com/office/officeart/2005/8/layout/chevron1"/>
    <dgm:cxn modelId="{41746DA9-1012-4DFB-8C07-B03EA75DCA40}" type="presParOf" srcId="{69DC7B74-8A30-49E6-8411-8614A8DC66E9}" destId="{10ADAB25-7098-4FCE-8B13-1C20FEE7C6E7}" srcOrd="2" destOrd="0" presId="urn:microsoft.com/office/officeart/2005/8/layout/chevron1"/>
    <dgm:cxn modelId="{6EF1B0D3-3CA0-4762-A15A-C96BCBE4A60B}" type="presParOf" srcId="{69DC7B74-8A30-49E6-8411-8614A8DC66E9}" destId="{484BF790-2B37-4D16-96F3-435B56353707}" srcOrd="3" destOrd="0" presId="urn:microsoft.com/office/officeart/2005/8/layout/chevron1"/>
    <dgm:cxn modelId="{607630E8-B706-4B56-BB42-A0ADB6237426}" type="presParOf" srcId="{69DC7B74-8A30-49E6-8411-8614A8DC66E9}" destId="{AA256F36-4AF7-4F58-BDB8-EA49DDD1CAF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EADC5-1969-4B40-8124-67DEADE6191E}">
      <dsp:nvSpPr>
        <dsp:cNvPr id="0" name=""/>
        <dsp:cNvSpPr/>
      </dsp:nvSpPr>
      <dsp:spPr>
        <a:xfrm>
          <a:off x="1777" y="1719169"/>
          <a:ext cx="2165603" cy="8662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sistema</a:t>
          </a:r>
          <a:endParaRPr lang="it-IT" sz="1600" kern="1200"/>
        </a:p>
      </dsp:txBody>
      <dsp:txXfrm>
        <a:off x="434898" y="1719169"/>
        <a:ext cx="1299362" cy="866241"/>
      </dsp:txXfrm>
    </dsp:sp>
    <dsp:sp modelId="{6A41EB27-605A-4A30-B29A-F7C7FA6F2971}">
      <dsp:nvSpPr>
        <dsp:cNvPr id="0" name=""/>
        <dsp:cNvSpPr/>
      </dsp:nvSpPr>
      <dsp:spPr>
        <a:xfrm>
          <a:off x="1950820" y="1719169"/>
          <a:ext cx="2165603" cy="8662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integrazione</a:t>
          </a:r>
          <a:endParaRPr lang="it-IT" sz="1600" kern="1200"/>
        </a:p>
      </dsp:txBody>
      <dsp:txXfrm>
        <a:off x="2383941" y="1719169"/>
        <a:ext cx="1299362" cy="866241"/>
      </dsp:txXfrm>
    </dsp:sp>
    <dsp:sp modelId="{E03271F8-3571-4E71-B4D3-B87F0B5A7F1C}">
      <dsp:nvSpPr>
        <dsp:cNvPr id="0" name=""/>
        <dsp:cNvSpPr/>
      </dsp:nvSpPr>
      <dsp:spPr>
        <a:xfrm>
          <a:off x="3899863" y="1719169"/>
          <a:ext cx="2165603" cy="8662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unità</a:t>
          </a:r>
          <a:endParaRPr lang="it-IT" sz="1600" kern="1200"/>
        </a:p>
      </dsp:txBody>
      <dsp:txXfrm>
        <a:off x="4332984" y="1719169"/>
        <a:ext cx="1299362" cy="866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1B899-9822-4B8C-963A-82C62B0316B8}">
      <dsp:nvSpPr>
        <dsp:cNvPr id="0" name=""/>
        <dsp:cNvSpPr/>
      </dsp:nvSpPr>
      <dsp:spPr>
        <a:xfrm>
          <a:off x="1777" y="2586920"/>
          <a:ext cx="2165538" cy="8662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unità</a:t>
          </a:r>
          <a:endParaRPr lang="it-IT" sz="1600" kern="1200"/>
        </a:p>
      </dsp:txBody>
      <dsp:txXfrm>
        <a:off x="434885" y="2586920"/>
        <a:ext cx="1299323" cy="866215"/>
      </dsp:txXfrm>
    </dsp:sp>
    <dsp:sp modelId="{E53F5D62-0A87-4039-8F66-6DA5E2A7DD15}">
      <dsp:nvSpPr>
        <dsp:cNvPr id="0" name=""/>
        <dsp:cNvSpPr/>
      </dsp:nvSpPr>
      <dsp:spPr>
        <a:xfrm>
          <a:off x="1950762" y="2586920"/>
          <a:ext cx="2165538" cy="8662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integrazione</a:t>
          </a:r>
          <a:endParaRPr lang="it-IT" sz="1600" kern="1200"/>
        </a:p>
      </dsp:txBody>
      <dsp:txXfrm>
        <a:off x="2383870" y="2586920"/>
        <a:ext cx="1299323" cy="866215"/>
      </dsp:txXfrm>
    </dsp:sp>
    <dsp:sp modelId="{F8DA1715-92D2-4102-89AE-49DCF286907B}">
      <dsp:nvSpPr>
        <dsp:cNvPr id="0" name=""/>
        <dsp:cNvSpPr/>
      </dsp:nvSpPr>
      <dsp:spPr>
        <a:xfrm>
          <a:off x="3899746" y="2586920"/>
          <a:ext cx="2165538" cy="8662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Avenir Next LT Pro"/>
            </a:rPr>
            <a:t>Testing di sistema</a:t>
          </a:r>
          <a:endParaRPr lang="it-IT" sz="1600" kern="1200"/>
        </a:p>
      </dsp:txBody>
      <dsp:txXfrm>
        <a:off x="4332854" y="2586920"/>
        <a:ext cx="1299323" cy="8662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C590F-F233-451B-9DA9-F9639683E0B7}">
      <dsp:nvSpPr>
        <dsp:cNvPr id="0" name=""/>
        <dsp:cNvSpPr/>
      </dsp:nvSpPr>
      <dsp:spPr>
        <a:xfrm>
          <a:off x="3207" y="243089"/>
          <a:ext cx="1917219" cy="766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DAO</a:t>
          </a:r>
        </a:p>
      </dsp:txBody>
      <dsp:txXfrm>
        <a:off x="386651" y="243089"/>
        <a:ext cx="1150332" cy="766887"/>
      </dsp:txXfrm>
    </dsp:sp>
    <dsp:sp modelId="{E68DA1EF-4C4F-4B10-831B-63D935647F12}">
      <dsp:nvSpPr>
        <dsp:cNvPr id="0" name=""/>
        <dsp:cNvSpPr/>
      </dsp:nvSpPr>
      <dsp:spPr>
        <a:xfrm>
          <a:off x="1728705" y="243089"/>
          <a:ext cx="1917219" cy="766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Service</a:t>
          </a:r>
        </a:p>
      </dsp:txBody>
      <dsp:txXfrm>
        <a:off x="2112149" y="243089"/>
        <a:ext cx="1150332" cy="766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2E24D-EF22-4F2D-BB1C-672C23FC84AB}">
      <dsp:nvSpPr>
        <dsp:cNvPr id="0" name=""/>
        <dsp:cNvSpPr/>
      </dsp:nvSpPr>
      <dsp:spPr>
        <a:xfrm>
          <a:off x="1674" y="502191"/>
          <a:ext cx="2039874" cy="8159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DAO</a:t>
          </a:r>
        </a:p>
      </dsp:txBody>
      <dsp:txXfrm>
        <a:off x="409649" y="502191"/>
        <a:ext cx="1223925" cy="815949"/>
      </dsp:txXfrm>
    </dsp:sp>
    <dsp:sp modelId="{10ADAB25-7098-4FCE-8B13-1C20FEE7C6E7}">
      <dsp:nvSpPr>
        <dsp:cNvPr id="0" name=""/>
        <dsp:cNvSpPr/>
      </dsp:nvSpPr>
      <dsp:spPr>
        <a:xfrm>
          <a:off x="1837560" y="502191"/>
          <a:ext cx="2039874" cy="8159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Service</a:t>
          </a:r>
        </a:p>
      </dsp:txBody>
      <dsp:txXfrm>
        <a:off x="2245535" y="502191"/>
        <a:ext cx="1223925" cy="815949"/>
      </dsp:txXfrm>
    </dsp:sp>
    <dsp:sp modelId="{AA256F36-4AF7-4F58-BDB8-EA49DDD1CAF1}">
      <dsp:nvSpPr>
        <dsp:cNvPr id="0" name=""/>
        <dsp:cNvSpPr/>
      </dsp:nvSpPr>
      <dsp:spPr>
        <a:xfrm>
          <a:off x="3673447" y="502191"/>
          <a:ext cx="2039874" cy="8159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Controller</a:t>
          </a:r>
        </a:p>
      </dsp:txBody>
      <dsp:txXfrm>
        <a:off x="4081422" y="502191"/>
        <a:ext cx="1223925" cy="815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E558-7E87-5B4B-91EB-BB4DE0A60EE5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345AA-E95A-574C-9E62-E98354E05D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41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345AA-E95A-574C-9E62-E98354E05D6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923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4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2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9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5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2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8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5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8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1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Progetto</a:t>
            </a:r>
            <a:r>
              <a:rPr lang="de-DE"/>
              <a:t> </a:t>
            </a:r>
            <a:r>
              <a:rPr lang="de-DE" err="1"/>
              <a:t>Digitronics</a:t>
            </a:r>
            <a:r>
              <a:rPr lang="de-DE"/>
              <a:t> </a:t>
            </a:r>
            <a:br>
              <a:rPr lang="de-DE"/>
            </a:br>
            <a:r>
              <a:rPr lang="de-DE" sz="2000" err="1"/>
              <a:t>Gruppo</a:t>
            </a:r>
            <a:r>
              <a:rPr lang="de-DE" sz="2000"/>
              <a:t> nc26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it-IT"/>
              <a:t>Corso di IS</a:t>
            </a:r>
          </a:p>
          <a:p>
            <a:r>
              <a:rPr lang="it-IT"/>
              <a:t> Prof. C. Gravino</a:t>
            </a:r>
          </a:p>
          <a:p>
            <a:r>
              <a:rPr lang="it-IT"/>
              <a:t> aa 2024-2025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F45972-5579-2CE8-3381-C576C97F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16902"/>
            <a:ext cx="10298775" cy="645108"/>
          </a:xfrm>
        </p:spPr>
        <p:txBody>
          <a:bodyPr>
            <a:normAutofit/>
          </a:bodyPr>
          <a:lstStyle/>
          <a:p>
            <a:r>
              <a:rPr lang="it-IT"/>
              <a:t>Obiettivo del sistema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2D1DF7-2EFD-4239-7A65-491E6276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08256"/>
            <a:ext cx="10289130" cy="486286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 b="1">
                <a:ea typeface="+mn-lt"/>
                <a:cs typeface="+mn-lt"/>
              </a:rPr>
              <a:t>Piattaforma</a:t>
            </a:r>
            <a:r>
              <a:rPr lang="it-IT">
                <a:ea typeface="+mn-lt"/>
                <a:cs typeface="+mn-lt"/>
              </a:rPr>
              <a:t>: </a:t>
            </a:r>
            <a:r>
              <a:rPr lang="it-IT" err="1">
                <a:ea typeface="+mn-lt"/>
                <a:cs typeface="+mn-lt"/>
              </a:rPr>
              <a:t>Digitronics</a:t>
            </a:r>
            <a:r>
              <a:rPr lang="it-IT">
                <a:ea typeface="+mn-lt"/>
                <a:cs typeface="+mn-lt"/>
              </a:rPr>
              <a:t> è un e-commerce specializzato nella vendita di prodotti elettronici di consumo.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Prodotti offerti</a:t>
            </a:r>
            <a:r>
              <a:rPr lang="it-IT">
                <a:ea typeface="+mn-lt"/>
                <a:cs typeface="+mn-lt"/>
              </a:rPr>
              <a:t>: Smartphone, </a:t>
            </a:r>
            <a:r>
              <a:rPr lang="it-IT" err="1">
                <a:ea typeface="+mn-lt"/>
                <a:cs typeface="+mn-lt"/>
              </a:rPr>
              <a:t>Tablet,Smartwatch,Accessori</a:t>
            </a:r>
            <a:r>
              <a:rPr lang="it-IT">
                <a:ea typeface="+mn-lt"/>
                <a:cs typeface="+mn-lt"/>
              </a:rPr>
              <a:t> elettronici.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Target</a:t>
            </a:r>
            <a:r>
              <a:rPr lang="it-IT">
                <a:ea typeface="+mn-lt"/>
                <a:cs typeface="+mn-lt"/>
              </a:rPr>
              <a:t>: Si rivolge a una clientela ampia, puntando su accessibilità e facilità d'uso.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Obiettivi</a:t>
            </a:r>
            <a:r>
              <a:rPr lang="it-IT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>
                <a:ea typeface="+mn-lt"/>
                <a:cs typeface="+mn-lt"/>
              </a:rPr>
              <a:t>Acquisto dei prodotti tramite l'utilizzo del carrello.</a:t>
            </a:r>
            <a:endParaRPr lang="it-IT"/>
          </a:p>
          <a:p>
            <a:pPr lvl="1">
              <a:buFont typeface="Courier New" panose="020B0604020202020204" pitchFamily="34" charset="0"/>
              <a:buChar char="o"/>
            </a:pPr>
            <a:r>
              <a:rPr lang="it-IT">
                <a:ea typeface="+mn-lt"/>
                <a:cs typeface="+mn-lt"/>
              </a:rPr>
              <a:t>Gestione dei prodotti da parte dell'admin</a:t>
            </a:r>
            <a:r>
              <a:rPr lang="it-IT"/>
              <a:t> 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Possibilità di fornire feedback ai prodotti tramite recensioni.</a:t>
            </a:r>
          </a:p>
          <a:p>
            <a:pPr marL="0" indent="0">
              <a:buNone/>
            </a:pPr>
            <a:endParaRPr lang="it-IT"/>
          </a:p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BB35DF-E1CD-86E3-9F93-EED0DD60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C543-B7DB-45E0-AE51-977E29A149B4}" type="datetime1">
              <a:rPr lang="it-IT"/>
              <a:t>26/06/2025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FC85B0-9C26-2BA5-DF38-70066956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56E39A-CD7D-9061-CEE3-20E0BE2B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3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software, Software multimedial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D437190-3171-CCBE-D275-8472B170F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40" y="2016928"/>
            <a:ext cx="6884694" cy="471577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F2DAE5E-3345-F3E5-C26A-A2C4510F8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2" y="3537837"/>
            <a:ext cx="11243733" cy="269025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CFFA7F5-A0B3-7FC1-5EB9-6311EB433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66" y="3027351"/>
            <a:ext cx="10625667" cy="351670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E089801-DE4D-44FB-0BDA-6282AAA5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13359"/>
            <a:ext cx="10298775" cy="577590"/>
          </a:xfrm>
        </p:spPr>
        <p:txBody>
          <a:bodyPr/>
          <a:lstStyle/>
          <a:p>
            <a:r>
              <a:rPr lang="it-IT"/>
              <a:t>Strumenti utilizzati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5DAE2C-C95D-6C4B-14B8-5962738B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D67-26CF-4781-9682-1FA8391ED841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3B4510-3BB1-0826-62A6-794771C1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D7CAB0-0095-E459-CF1C-709B2EAC3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07667"/>
            <a:ext cx="10292851" cy="496345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Comunicazione: </a:t>
            </a:r>
            <a:r>
              <a:rPr lang="it-IT" b="1"/>
              <a:t>Teams</a:t>
            </a:r>
          </a:p>
          <a:p>
            <a:r>
              <a:rPr lang="it-IT"/>
              <a:t>Pianificazione dei task: </a:t>
            </a:r>
            <a:r>
              <a:rPr lang="it-IT" b="1" err="1"/>
              <a:t>Trello</a:t>
            </a:r>
            <a:endParaRPr lang="it-IT" b="1"/>
          </a:p>
          <a:p>
            <a:r>
              <a:rPr lang="it-IT"/>
              <a:t>Utilizzo di </a:t>
            </a:r>
            <a:r>
              <a:rPr lang="it-IT" b="1" err="1"/>
              <a:t>Github</a:t>
            </a:r>
            <a:endParaRPr lang="it-IT" b="1"/>
          </a:p>
          <a:p>
            <a:r>
              <a:rPr lang="it-IT" b="1"/>
              <a:t>Pull-</a:t>
            </a:r>
            <a:r>
              <a:rPr lang="it-IT" b="1" err="1"/>
              <a:t>based</a:t>
            </a:r>
            <a:r>
              <a:rPr lang="it-IT" b="1"/>
              <a:t> </a:t>
            </a:r>
            <a:r>
              <a:rPr lang="it-IT" b="1" err="1"/>
              <a:t>development</a:t>
            </a:r>
            <a:r>
              <a:rPr lang="it-IT" b="1"/>
              <a:t> </a:t>
            </a:r>
            <a:r>
              <a:rPr lang="it-IT"/>
              <a:t>e </a:t>
            </a:r>
            <a:r>
              <a:rPr lang="it-IT" b="1"/>
              <a:t>code review</a:t>
            </a:r>
          </a:p>
          <a:p>
            <a:r>
              <a:rPr lang="it-IT" err="1"/>
              <a:t>Continuous</a:t>
            </a:r>
            <a:r>
              <a:rPr lang="it-IT"/>
              <a:t> </a:t>
            </a:r>
            <a:r>
              <a:rPr lang="it-IT" err="1"/>
              <a:t>integration</a:t>
            </a:r>
            <a:r>
              <a:rPr lang="it-IT"/>
              <a:t> tramite </a:t>
            </a:r>
            <a:r>
              <a:rPr lang="it-IT" b="1"/>
              <a:t>Travis-CI</a:t>
            </a:r>
          </a:p>
          <a:p>
            <a:r>
              <a:rPr lang="it-IT"/>
              <a:t>Documentazione del codice tramite </a:t>
            </a:r>
            <a:r>
              <a:rPr lang="it-IT" b="1" err="1"/>
              <a:t>Javadoc</a:t>
            </a:r>
            <a:endParaRPr lang="it-IT" b="1"/>
          </a:p>
          <a:p>
            <a:r>
              <a:rPr lang="it-IT"/>
              <a:t>Utilizzo di tool avanzati di test come </a:t>
            </a:r>
            <a:r>
              <a:rPr lang="it-IT" b="1" err="1"/>
              <a:t>Mockito</a:t>
            </a:r>
            <a:endParaRPr lang="it-IT" b="1"/>
          </a:p>
          <a:p>
            <a:endParaRPr lang="it-IT" b="1"/>
          </a:p>
          <a:p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642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2C33F5-4A4B-494A-77DB-1060AA10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8" y="512221"/>
            <a:ext cx="10289130" cy="596881"/>
          </a:xfrm>
        </p:spPr>
        <p:txBody>
          <a:bodyPr/>
          <a:lstStyle/>
          <a:p>
            <a:r>
              <a:rPr lang="it-IT"/>
              <a:t>Requisiti funzionali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729767-A083-1F0D-C383-93F4D136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34" y="1226410"/>
            <a:ext cx="10327712" cy="5007546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/>
            <a:r>
              <a:rPr lang="it-IT"/>
              <a:t>Suddivisi in 5 gestioni: 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it-IT"/>
              <a:t>Gestione account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it-IT"/>
              <a:t>Gestione prodotto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it-IT"/>
              <a:t>Gestione carrello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it-IT"/>
              <a:t>Gestione acquisti  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it-IT"/>
              <a:t>Gestione wishlist </a:t>
            </a:r>
          </a:p>
          <a:p>
            <a:pPr marL="342900" indent="-342900"/>
            <a:r>
              <a:rPr lang="it-IT"/>
              <a:t>Requisiti ad </a:t>
            </a:r>
            <a:r>
              <a:rPr lang="it-IT" b="1"/>
              <a:t>alta priorità </a:t>
            </a:r>
            <a:r>
              <a:rPr lang="it-IT"/>
              <a:t>gestiti durante analisi, design ed implementazione</a:t>
            </a:r>
          </a:p>
          <a:p>
            <a:pPr marL="342900" indent="-342900"/>
            <a:r>
              <a:rPr lang="it-IT"/>
              <a:t>Requisiti a </a:t>
            </a:r>
            <a:r>
              <a:rPr lang="it-IT" b="1"/>
              <a:t>priorità media</a:t>
            </a:r>
            <a:r>
              <a:rPr lang="it-IT"/>
              <a:t> gestiti durante analisi e design</a:t>
            </a:r>
          </a:p>
          <a:p>
            <a:pPr marL="342900" indent="-342900"/>
            <a:r>
              <a:rPr lang="it-IT"/>
              <a:t>Requisiti a </a:t>
            </a:r>
            <a:r>
              <a:rPr lang="it-IT" b="1"/>
              <a:t>bassa priorità</a:t>
            </a:r>
            <a:r>
              <a:rPr lang="it-IT"/>
              <a:t> gestiti solo durante l'analisi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822927-1F4E-70E1-E3CF-EF2180C5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E125F-F497-4C2C-A939-655E21E5E588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7D9CC3-5E57-0DE2-E952-4126C182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4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D4F42D9-9D3D-AB3F-C8AB-B89DF0DD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562" y="1046651"/>
            <a:ext cx="4967931" cy="529912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1B95D55-3F9B-CAB6-36B0-090325DD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89" y="1046651"/>
            <a:ext cx="4313294" cy="541829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9C07B9C-16F7-B3F2-5D9E-81EC5BF51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140" y="1163019"/>
            <a:ext cx="5299606" cy="423407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6CE2DED-D185-FAB5-72F1-C842C55DA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561" y="1172492"/>
            <a:ext cx="4894361" cy="4341911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E630ED3-1519-3C1E-E55D-A83AD0C3B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905" y="1580243"/>
            <a:ext cx="5226417" cy="369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7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56B09F-C203-3B3F-A408-037BEDD3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814" y="324035"/>
            <a:ext cx="10265357" cy="560265"/>
          </a:xfrm>
        </p:spPr>
        <p:txBody>
          <a:bodyPr anchor="b">
            <a:normAutofit/>
          </a:bodyPr>
          <a:lstStyle/>
          <a:p>
            <a:r>
              <a:rPr lang="it-IT"/>
              <a:t>Requisiti non funzionali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92793E-6C8D-AC8B-D9AF-7A65C06F1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814" y="1078782"/>
            <a:ext cx="5012736" cy="5098181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r>
              <a:rPr lang="it-IT"/>
              <a:t>I requisiti non funzionali del sistema sono stati classificati secondo il modello FURPS+, che comprende: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Usabilità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Affidabilità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Supportabilità</a:t>
            </a:r>
          </a:p>
          <a:p>
            <a:pPr marL="457200" lvl="1" indent="0">
              <a:buNone/>
            </a:pPr>
            <a:endParaRPr lang="it-IT"/>
          </a:p>
          <a:p>
            <a:pPr marL="457200" lvl="1" indent="0">
              <a:buNone/>
            </a:pPr>
            <a:r>
              <a:rPr lang="it-IT" b="1"/>
              <a:t>Vincoli: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Implementazione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Interfacce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Operazioni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Packaging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Legali</a:t>
            </a:r>
            <a:endParaRPr lang="it-IT" b="1"/>
          </a:p>
          <a:p>
            <a:r>
              <a:rPr lang="it-IT"/>
              <a:t>Questa suddivisione garantisce una visione strutturata e completa delle qualità del sistema.</a:t>
            </a:r>
          </a:p>
          <a:p>
            <a:endParaRPr lang="it-IT"/>
          </a:p>
        </p:txBody>
      </p:sp>
      <p:pic>
        <p:nvPicPr>
          <p:cNvPr id="7" name="Immagine 6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451C0DE-9F0E-9018-714F-F83DDCA4C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699" y="1078782"/>
            <a:ext cx="5083067" cy="4180822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1991E2-94D8-4C7F-E6F1-20F08EA6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5321B5-39BD-4275-AE38-499B59A3BA62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558C7A-F251-7476-22E1-6C4A52F0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AB354F-48A2-56C4-E857-BBA5DFD7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F55390E-6A6C-ADC3-BAAA-DAFF44949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491" y="1210599"/>
            <a:ext cx="5049883" cy="40490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5C324AE-3FF3-CBB0-FD4B-89B51BA49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92" y="1210599"/>
            <a:ext cx="4876680" cy="46350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51FF88B-30E8-B28D-BFC7-5913D8C2B2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981" y="1210599"/>
            <a:ext cx="5348902" cy="236028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A5D3F72-8773-FAAD-8237-484313DC6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492" y="1304219"/>
            <a:ext cx="5702380" cy="199844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2A0AFD4-A1A1-8AD3-3C7F-3D1DFBF2AC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3843" y="1304219"/>
            <a:ext cx="5573678" cy="247999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13D3EBD-03B0-CF22-0AF3-0B4CAD10A6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492" y="1447788"/>
            <a:ext cx="5896337" cy="84737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FBF61E5-6820-0951-C174-6844A33722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3622" y="1605293"/>
            <a:ext cx="6214120" cy="142756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75501CA-1D9B-5D0B-48F1-77E2A278E3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6896" y="1447788"/>
            <a:ext cx="5832131" cy="204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8527B3-4DDE-6808-17D8-D8DC7EA0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3152"/>
            <a:ext cx="10282656" cy="544322"/>
          </a:xfrm>
        </p:spPr>
        <p:txBody>
          <a:bodyPr>
            <a:normAutofit fontScale="90000"/>
          </a:bodyPr>
          <a:lstStyle/>
          <a:p>
            <a:r>
              <a:rPr lang="it-IT"/>
              <a:t>Scenario modifica prodotto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9F454FF5-09E5-76B0-BEAF-709706729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616839"/>
              </p:ext>
            </p:extLst>
          </p:nvPr>
        </p:nvGraphicFramePr>
        <p:xfrm>
          <a:off x="1367424" y="1148219"/>
          <a:ext cx="10240962" cy="4873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82258">
                  <a:extLst>
                    <a:ext uri="{9D8B030D-6E8A-4147-A177-3AD203B41FA5}">
                      <a16:colId xmlns:a16="http://schemas.microsoft.com/office/drawing/2014/main" val="3220057248"/>
                    </a:ext>
                  </a:extLst>
                </a:gridCol>
                <a:gridCol w="3629352">
                  <a:extLst>
                    <a:ext uri="{9D8B030D-6E8A-4147-A177-3AD203B41FA5}">
                      <a16:colId xmlns:a16="http://schemas.microsoft.com/office/drawing/2014/main" val="1329234306"/>
                    </a:ext>
                  </a:extLst>
                </a:gridCol>
                <a:gridCol w="3629352">
                  <a:extLst>
                    <a:ext uri="{9D8B030D-6E8A-4147-A177-3AD203B41FA5}">
                      <a16:colId xmlns:a16="http://schemas.microsoft.com/office/drawing/2014/main" val="2213982998"/>
                    </a:ext>
                  </a:extLst>
                </a:gridCol>
              </a:tblGrid>
              <a:tr h="3350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NOME SCENARIO </a:t>
                      </a:r>
                      <a:endParaRPr lang="it-IT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spcBef>
                          <a:spcPts val="200"/>
                        </a:spcBef>
                      </a:pPr>
                      <a:r>
                        <a:rPr lang="it-IT" sz="1200" b="1" i="1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SC</a:t>
                      </a:r>
                      <a:r>
                        <a:rPr lang="it-IT" sz="1300" b="1" i="1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_GP_8: Modifica prodotto </a:t>
                      </a:r>
                      <a:endParaRPr lang="it-IT" b="1" i="1">
                        <a:solidFill>
                          <a:srgbClr val="4E1F76"/>
                        </a:solidFill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986403"/>
                  </a:ext>
                </a:extLst>
              </a:tr>
              <a:tr h="28935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ATTORI </a:t>
                      </a:r>
                      <a:endParaRPr lang="it-IT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Domenico: Admin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41037"/>
                  </a:ext>
                </a:extLst>
              </a:tr>
              <a:tr h="28935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DESCRIZIONE </a:t>
                      </a:r>
                      <a:endParaRPr lang="it-IT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Domenico decide di modificare il prezzo relativo ad un prodotto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179269"/>
                  </a:ext>
                </a:extLst>
              </a:tr>
              <a:tr h="1294464">
                <a:tc rowSpan="4"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FLUSSO DEGLI EVENTI </a:t>
                      </a:r>
                    </a:p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1. Domenico è un amministratore di “Digitronics”. Controllando il sito si rende conto che esiste un errore nel prezzo e decide di correggere l’errore. Domenico si reca nell’area per la modifica dei prodotti e cerca il prodotto.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643172"/>
                  </a:ext>
                </a:extLst>
              </a:tr>
              <a:tr h="1294464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2. Il sistema restituisce a Domenico il prodotto che ha cercato e riempie il form indicando quindi il nome, la descrizione, il prezzo, la possibilità di aggiungere il prodotto in vetrina, quantità ed infine la categoria.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69141"/>
                  </a:ext>
                </a:extLst>
              </a:tr>
              <a:tr h="685304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3. Domenico modifica il prezzo del prodotto e seleziona il bottone per confermare l’operazione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668296"/>
                  </a:ext>
                </a:extLst>
              </a:tr>
              <a:tr h="685304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0" i="0">
                          <a:effectLst/>
                          <a:latin typeface="Verdana" panose="020B0604030504040204" pitchFamily="34" charset="0"/>
                        </a:rPr>
                        <a:t>4. Il sistema aggiorna il prodotto nel catalogo e lo informa del successo dell’inserimento. </a:t>
                      </a:r>
                      <a:endParaRPr lang="it-IT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684648"/>
                  </a:ext>
                </a:extLst>
              </a:tr>
            </a:tbl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A3E78A-BC0B-061D-3FD6-17AFF709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A14-95A6-4430-BF75-FAB4BC2AC88A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80F4BF-86F5-7E67-8168-22849EFF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5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6CA521-182D-C7EA-073E-DA0D1F550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575" y="7995"/>
            <a:ext cx="10282656" cy="620551"/>
          </a:xfrm>
        </p:spPr>
        <p:txBody>
          <a:bodyPr>
            <a:normAutofit/>
          </a:bodyPr>
          <a:lstStyle/>
          <a:p>
            <a:r>
              <a:rPr lang="it-IT"/>
              <a:t>Use case Modifica Prodotto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1F9546-0B7B-3344-BF6E-F5148211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39700" y="6409170"/>
            <a:ext cx="3702392" cy="448830"/>
          </a:xfrm>
        </p:spPr>
        <p:txBody>
          <a:bodyPr/>
          <a:lstStyle/>
          <a:p>
            <a:fld id="{4D6B4121-0684-4229-A1EA-EB1EA67B04DC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06ACF5-D870-2907-E251-1498FB85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7A8F20-3B72-2547-76A4-0032AEAE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/>
          </a:p>
        </p:txBody>
      </p:sp>
      <p:pic>
        <p:nvPicPr>
          <p:cNvPr id="15" name="Segnaposto contenuto 14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E1220936-8079-B734-8465-F4C6FBAFC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968" y="677677"/>
            <a:ext cx="5537293" cy="3956179"/>
          </a:xfrm>
        </p:spPr>
      </p:pic>
      <p:pic>
        <p:nvPicPr>
          <p:cNvPr id="16" name="Immagine 15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BFB08DF-45DC-791C-FEFE-C2E371A8A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1" y="5093144"/>
            <a:ext cx="5559468" cy="1353464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4BD8C519-C825-E5A8-9224-F095B80AD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492" y="1001267"/>
            <a:ext cx="4811739" cy="3637860"/>
          </a:xfrm>
          <a:prstGeom prst="rect">
            <a:avLst/>
          </a:prstGeom>
        </p:spPr>
      </p:pic>
      <p:pic>
        <p:nvPicPr>
          <p:cNvPr id="11" name="Immagine 10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8873E07F-B964-7880-ADBE-65AD2DBDF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493" y="4634866"/>
            <a:ext cx="4811738" cy="1676043"/>
          </a:xfrm>
          <a:prstGeom prst="rect">
            <a:avLst/>
          </a:prstGeom>
        </p:spPr>
      </p:pic>
      <p:pic>
        <p:nvPicPr>
          <p:cNvPr id="10" name="Immagine 9" descr="Immagine che contiene testo, schermata, Carattere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01D2E8E3-9ACF-87AE-DB18-944B2EAB14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51" t="5263" r="1610"/>
          <a:stretch/>
        </p:blipFill>
        <p:spPr>
          <a:xfrm>
            <a:off x="558916" y="6450383"/>
            <a:ext cx="5559617" cy="326445"/>
          </a:xfrm>
          <a:prstGeom prst="rect">
            <a:avLst/>
          </a:prstGeom>
        </p:spPr>
      </p:pic>
      <p:pic>
        <p:nvPicPr>
          <p:cNvPr id="12" name="Immagine 11" descr="Immagine che contiene testo, schermata, Carattere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F9DBA00-789D-DA11-30F2-09DEBD3821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44" r="6824" b="343"/>
          <a:stretch/>
        </p:blipFill>
        <p:spPr>
          <a:xfrm>
            <a:off x="553559" y="4503107"/>
            <a:ext cx="5521294" cy="59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1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71332-E78A-048B-87D5-5FF4B4FA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11987"/>
            <a:ext cx="10251396" cy="519457"/>
          </a:xfrm>
        </p:spPr>
        <p:txBody>
          <a:bodyPr>
            <a:normAutofit fontScale="90000"/>
          </a:bodyPr>
          <a:lstStyle/>
          <a:p>
            <a:r>
              <a:rPr lang="it-IT"/>
              <a:t>Use case aggiunta recensione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15B020-7A5B-AB9D-94D4-4D5F8365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3391-3885-4532-8DDE-0938FF3017B3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493A1F-F335-354B-4820-B37C2144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FB8F8E-1D0E-DD8C-14E6-FC96D37D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/>
          </a:p>
        </p:txBody>
      </p:sp>
      <p:pic>
        <p:nvPicPr>
          <p:cNvPr id="11" name="Segnaposto contenuto 10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62742526-DD43-7D13-683B-03A114EDB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8" r="66" b="307"/>
          <a:stretch/>
        </p:blipFill>
        <p:spPr>
          <a:xfrm>
            <a:off x="227475" y="1044521"/>
            <a:ext cx="6237380" cy="4795583"/>
          </a:xfrm>
        </p:spPr>
      </p:pic>
      <p:pic>
        <p:nvPicPr>
          <p:cNvPr id="15" name="Immagine 14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E757ECBD-5314-BA13-8954-0CC2EDDAD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31" y="1041631"/>
            <a:ext cx="5309346" cy="480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9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F85381-4F70-7A47-E4BC-990D3034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867"/>
            <a:ext cx="9700752" cy="558299"/>
          </a:xfrm>
        </p:spPr>
        <p:txBody>
          <a:bodyPr/>
          <a:lstStyle/>
          <a:p>
            <a:r>
              <a:rPr lang="it-IT"/>
              <a:t>Use case checkout prodotti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1463EC-EA2E-CD8F-6A6C-1BBD3C5D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384-66E5-47D6-AA7A-9678BF2166AF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2819AF-860E-974F-C0A4-00AF3A5E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/>
          </a:p>
        </p:txBody>
      </p:sp>
      <p:pic>
        <p:nvPicPr>
          <p:cNvPr id="22" name="Segnaposto contenuto 21" descr="Immagine che contiene testo, schermata, numero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13A333D-E870-F665-73B7-D8FE7AF8D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442" y="588203"/>
            <a:ext cx="4528619" cy="5763496"/>
          </a:xfrm>
        </p:spPr>
      </p:pic>
      <p:pic>
        <p:nvPicPr>
          <p:cNvPr id="23" name="Immagine 22" descr="Immagine che contiene testo, schermata, Carattere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7BFB23C-CA46-03C8-3C8A-C4E3370E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42" y="674524"/>
            <a:ext cx="4885965" cy="928382"/>
          </a:xfrm>
          <a:prstGeom prst="rect">
            <a:avLst/>
          </a:prstGeom>
        </p:spPr>
      </p:pic>
      <p:pic>
        <p:nvPicPr>
          <p:cNvPr id="24" name="Immagine 23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9687C433-728D-B4B0-5D8B-D719FA82A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771" y="1602906"/>
            <a:ext cx="4877836" cy="47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D8AD8D-AB25-6A91-88E1-12F51C02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C130-FB60-4FAF-9DC2-3E64D79E0481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8714CD-153E-6161-564D-50BB4EB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25C2F-C5BD-06B1-4650-5BBD050A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/>
          </a:p>
        </p:txBody>
      </p:sp>
      <p:pic>
        <p:nvPicPr>
          <p:cNvPr id="12" name="Immagine 11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C2195E17-FCE6-0B44-68B7-7DFB9C78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112" y="3235"/>
            <a:ext cx="6161778" cy="2610210"/>
          </a:xfrm>
          <a:prstGeom prst="rect">
            <a:avLst/>
          </a:prstGeom>
        </p:spPr>
      </p:pic>
      <p:pic>
        <p:nvPicPr>
          <p:cNvPr id="13" name="Immagine 12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96D8D885-F61E-8CAE-8CB5-9CAD192EF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112" y="2619465"/>
            <a:ext cx="6161776" cy="379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6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28161-C056-899B-7255-64B90723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89" y="476705"/>
            <a:ext cx="3601995" cy="1773640"/>
          </a:xfrm>
        </p:spPr>
        <p:txBody>
          <a:bodyPr anchor="b">
            <a:normAutofit/>
          </a:bodyPr>
          <a:lstStyle/>
          <a:p>
            <a:r>
              <a:rPr lang="it-IT" err="1"/>
              <a:t>Entity</a:t>
            </a:r>
            <a:r>
              <a:rPr lang="it-IT"/>
              <a:t> Class </a:t>
            </a:r>
            <a:r>
              <a:rPr lang="it-IT" err="1"/>
              <a:t>diagram</a:t>
            </a: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E85639-AAA5-1B82-2CB4-6EA7E417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A82ECF0-6230-4109-83BC-1F590A0CA564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9838DE-3964-8E85-3115-A03541F9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CD052A-7384-13A7-0ECD-3000FE04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2" name="Segnaposto contenuto 21" descr="Immagine che contiene testo, diagramma, Piano, Parallel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79555A9-F7D3-040E-7B59-B5EAE02EF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0040" y="-5261"/>
            <a:ext cx="4822562" cy="6890243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EFD0F2-BE94-215A-4CFD-0780D35B0CB5}"/>
              </a:ext>
            </a:extLst>
          </p:cNvPr>
          <p:cNvSpPr txBox="1"/>
          <p:nvPr/>
        </p:nvSpPr>
        <p:spPr>
          <a:xfrm>
            <a:off x="870400" y="2363943"/>
            <a:ext cx="27166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Vengono rappresentati gli attributi e le relazioni che esistono tra gli oggetti </a:t>
            </a:r>
            <a:r>
              <a:rPr lang="it-IT" err="1"/>
              <a:t>entity</a:t>
            </a:r>
            <a:r>
              <a:rPr lang="it-IT"/>
              <a:t> del sistema   </a:t>
            </a:r>
          </a:p>
        </p:txBody>
      </p:sp>
    </p:spTree>
    <p:extLst>
      <p:ext uri="{BB962C8B-B14F-4D97-AF65-F5344CB8AC3E}">
        <p14:creationId xmlns:p14="http://schemas.microsoft.com/office/powerpoint/2010/main" val="69207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371C19-11F2-25CB-08B8-CA112BB1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0" y="581790"/>
            <a:ext cx="4953001" cy="1634705"/>
          </a:xfrm>
        </p:spPr>
        <p:txBody>
          <a:bodyPr>
            <a:normAutofit fontScale="90000"/>
          </a:bodyPr>
          <a:lstStyle/>
          <a:p>
            <a:pPr algn="ctr"/>
            <a:r>
              <a:rPr lang="it-IT" err="1"/>
              <a:t>Sequence</a:t>
            </a:r>
            <a:r>
              <a:rPr lang="it-IT"/>
              <a:t> </a:t>
            </a:r>
            <a:r>
              <a:rPr lang="it-IT" err="1"/>
              <a:t>diagram</a:t>
            </a:r>
            <a:br>
              <a:rPr lang="it-IT"/>
            </a:br>
            <a:r>
              <a:rPr lang="it-IT" sz="1800"/>
              <a:t>SD_GP_1: Aggiunta recensione</a:t>
            </a:r>
            <a:endParaRPr lang="it-IT"/>
          </a:p>
        </p:txBody>
      </p:sp>
      <p:pic>
        <p:nvPicPr>
          <p:cNvPr id="7" name="Segnaposto contenuto 6" descr="Immagine che contiene testo, diagramma, schermat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ED9CA998-D8C5-47B8-DE53-99D2A282E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0080" y="557048"/>
            <a:ext cx="7188250" cy="5493733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22E102-1503-CA5F-7677-638B1864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6F63-AF3E-4301-97CA-C5AC4C46740D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F6CA80-4EDF-4DDC-5AD9-54283B8E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B99113-08CF-B798-F080-C3A604D0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12</a:t>
            </a:fld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C32342-7CFA-7CF8-BE92-084ED4656B41}"/>
              </a:ext>
            </a:extLst>
          </p:cNvPr>
          <p:cNvSpPr txBox="1"/>
          <p:nvPr/>
        </p:nvSpPr>
        <p:spPr>
          <a:xfrm>
            <a:off x="417786" y="2529890"/>
            <a:ext cx="4502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Il seguente </a:t>
            </a:r>
            <a:r>
              <a:rPr lang="it-IT" err="1"/>
              <a:t>sequence</a:t>
            </a:r>
            <a:r>
              <a:rPr lang="it-IT"/>
              <a:t> </a:t>
            </a:r>
            <a:r>
              <a:rPr lang="it-IT" err="1"/>
              <a:t>diagram</a:t>
            </a:r>
            <a:r>
              <a:rPr lang="it-IT"/>
              <a:t> mostra il comportamento dello use case UC_GP_1: Aggiunta recensione</a:t>
            </a:r>
          </a:p>
        </p:txBody>
      </p:sp>
    </p:spTree>
    <p:extLst>
      <p:ext uri="{BB962C8B-B14F-4D97-AF65-F5344CB8AC3E}">
        <p14:creationId xmlns:p14="http://schemas.microsoft.com/office/powerpoint/2010/main" val="170991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22E102-1503-CA5F-7677-638B1864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06F63-AF3E-4301-97CA-C5AC4C46740D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F6CA80-4EDF-4DDC-5AD9-54283B8E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B99113-08CF-B798-F080-C3A604D0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13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8B1E2E-BD40-9C6F-3080-7821795AFE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870" y="739445"/>
            <a:ext cx="7243130" cy="511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D975BAB5-C86E-359D-B181-0E02F9188031}"/>
              </a:ext>
            </a:extLst>
          </p:cNvPr>
          <p:cNvSpPr txBox="1">
            <a:spLocks/>
          </p:cNvSpPr>
          <p:nvPr/>
        </p:nvSpPr>
        <p:spPr>
          <a:xfrm>
            <a:off x="83670" y="581790"/>
            <a:ext cx="4953001" cy="1634705"/>
          </a:xfrm>
          <a:prstGeom prst="rect">
            <a:avLst/>
          </a:prstGeom>
        </p:spPr>
        <p:txBody>
          <a:bodyPr vert="horz" lIns="0" tIns="0" rIns="0" bIns="0" rtlCol="0"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err="1"/>
              <a:t>StateChart</a:t>
            </a:r>
            <a:r>
              <a:rPr lang="it-IT"/>
              <a:t> </a:t>
            </a:r>
            <a:r>
              <a:rPr lang="it-IT" err="1"/>
              <a:t>diagram</a:t>
            </a:r>
            <a:br>
              <a:rPr lang="it-IT"/>
            </a:br>
            <a:r>
              <a:rPr lang="it-IT" sz="1800">
                <a:latin typeface="Verdana"/>
                <a:ea typeface="Verdana"/>
              </a:rPr>
              <a:t>SCD_GP_1: Aggiunta recensione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1A1F4D3-DC09-397A-1083-F7D365623ECA}"/>
              </a:ext>
            </a:extLst>
          </p:cNvPr>
          <p:cNvSpPr txBox="1"/>
          <p:nvPr/>
        </p:nvSpPr>
        <p:spPr>
          <a:xfrm>
            <a:off x="417786" y="2529890"/>
            <a:ext cx="4502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Il seguente </a:t>
            </a:r>
            <a:r>
              <a:rPr lang="it-IT" err="1"/>
              <a:t>statechart</a:t>
            </a:r>
            <a:r>
              <a:rPr lang="it-IT"/>
              <a:t> </a:t>
            </a:r>
            <a:r>
              <a:rPr lang="it-IT" err="1"/>
              <a:t>diagram</a:t>
            </a:r>
            <a:r>
              <a:rPr lang="it-IT"/>
              <a:t> rappresenta il comportamento dell’oggetto </a:t>
            </a:r>
            <a:r>
              <a:rPr lang="it-IT" err="1"/>
              <a:t>AggiungiRecensioneControl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1395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A31B78-976E-7DD2-22CE-DAFAE38D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79" y="488280"/>
            <a:ext cx="4235280" cy="1233488"/>
          </a:xfrm>
        </p:spPr>
        <p:txBody>
          <a:bodyPr>
            <a:normAutofit fontScale="90000"/>
          </a:bodyPr>
          <a:lstStyle/>
          <a:p>
            <a:r>
              <a:rPr lang="it-IT"/>
              <a:t>Activity </a:t>
            </a:r>
            <a:r>
              <a:rPr lang="it-IT" err="1"/>
              <a:t>diagram</a:t>
            </a:r>
            <a:br>
              <a:rPr lang="it-IT"/>
            </a:br>
            <a:r>
              <a:rPr lang="it-IT" sz="2000"/>
              <a:t>AD_GP_2: Modifica prodotto</a:t>
            </a:r>
          </a:p>
        </p:txBody>
      </p:sp>
      <p:pic>
        <p:nvPicPr>
          <p:cNvPr id="7" name="Segnaposto contenuto 6" descr="Immagine che contiene testo, schermata, diagramm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B5135523-B21F-53E8-C8C7-BA72017F9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2246" y="-4279"/>
            <a:ext cx="5913992" cy="641500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38FB3E-0F0F-F16F-54CB-56A2106C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D09BD-8787-46CE-9BDC-4857F2F34A8D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F32682-E29F-9230-B512-B87E87DA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C93ABE-BEFD-52AB-5510-5D4B3A94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20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66024-5239-368C-1C71-E4453106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625" y="209836"/>
            <a:ext cx="9997862" cy="615027"/>
          </a:xfrm>
        </p:spPr>
        <p:txBody>
          <a:bodyPr vert="horz" lIns="0" tIns="0" rIns="0" bIns="0" rtlCol="0" anchor="b">
            <a:noAutofit/>
          </a:bodyPr>
          <a:lstStyle/>
          <a:p>
            <a:pPr algn="ctr"/>
            <a:r>
              <a:rPr lang="it-IT" sz="3600" err="1"/>
              <a:t>Path</a:t>
            </a:r>
            <a:r>
              <a:rPr lang="it-IT" sz="3600"/>
              <a:t> </a:t>
            </a:r>
            <a:r>
              <a:rPr lang="it-IT" sz="3600" err="1"/>
              <a:t>navigazionali</a:t>
            </a:r>
            <a:endParaRPr lang="it-IT" sz="360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0BA1FE2-794A-5B71-8D9F-57B78EDFA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34" y="936032"/>
            <a:ext cx="5860117" cy="265337"/>
          </a:xfrm>
        </p:spPr>
        <p:txBody>
          <a:bodyPr>
            <a:normAutofit/>
          </a:bodyPr>
          <a:lstStyle/>
          <a:p>
            <a:pPr algn="ctr"/>
            <a:r>
              <a:rPr lang="it-IT" sz="1400" i="1">
                <a:latin typeface="Verdana"/>
                <a:ea typeface="Verdana"/>
              </a:rPr>
              <a:t>NP_GU_1: Utente Registrato</a:t>
            </a:r>
            <a:endParaRPr lang="it-IT" sz="1400" b="0" i="1">
              <a:latin typeface="Verdana"/>
              <a:ea typeface="Verdana"/>
            </a:endParaRPr>
          </a:p>
        </p:txBody>
      </p:sp>
      <p:pic>
        <p:nvPicPr>
          <p:cNvPr id="10" name="Segnaposto contenuto 9" descr="Immagine che contiene testo, diagramma, Piano, Disegno tecnic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7928379-823A-7713-2E32-03234E552A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87" t="50" b="158"/>
          <a:stretch/>
        </p:blipFill>
        <p:spPr>
          <a:xfrm>
            <a:off x="125553" y="1290592"/>
            <a:ext cx="5854098" cy="5050058"/>
          </a:xfrm>
        </p:spPr>
      </p:pic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D8D6F56-BF82-61A2-5C57-8FC2F4A9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06843" y="832107"/>
            <a:ext cx="5296185" cy="395721"/>
          </a:xfrm>
        </p:spPr>
        <p:txBody>
          <a:bodyPr/>
          <a:lstStyle/>
          <a:p>
            <a:pPr algn="ctr"/>
            <a:r>
              <a:rPr lang="it-IT" sz="1400" i="1">
                <a:latin typeface="Verdana"/>
                <a:ea typeface="Verdana"/>
              </a:rPr>
              <a:t>NP_GU_2: Admin</a:t>
            </a:r>
            <a:endParaRPr lang="it-IT"/>
          </a:p>
        </p:txBody>
      </p:sp>
      <p:pic>
        <p:nvPicPr>
          <p:cNvPr id="11" name="Segnaposto contenuto 10" descr="Immagine che contiene testo, diagramma, Piano, Disegno tecnic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B15422B-23B1-45CE-489D-BDA8C4E4EB3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1157" t="-52" r="1081" b="132"/>
          <a:stretch/>
        </p:blipFill>
        <p:spPr>
          <a:xfrm>
            <a:off x="6606843" y="1289549"/>
            <a:ext cx="5459604" cy="504559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E2A2A7-53DA-45E8-20EF-15EB149A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1CE8-3D5C-42EE-AE42-09174DC2D31B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3A46D2-F659-5419-B7B8-E109F6A15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45643B-BCAD-5451-D1B3-CC8657EB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0D044-7066-0563-6FE6-0A22E755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0286"/>
            <a:ext cx="10293094" cy="784639"/>
          </a:xfrm>
        </p:spPr>
        <p:txBody>
          <a:bodyPr/>
          <a:lstStyle/>
          <a:p>
            <a:r>
              <a:rPr lang="it-IT" err="1"/>
              <a:t>Mock</a:t>
            </a:r>
            <a:r>
              <a:rPr lang="it-IT"/>
              <a:t>-up</a:t>
            </a:r>
          </a:p>
        </p:txBody>
      </p:sp>
      <p:pic>
        <p:nvPicPr>
          <p:cNvPr id="7" name="Segnaposto contenuto 6" descr="Immagine che contiene testo, schermata, schermo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99A5CA08-6104-D588-A2BC-281FD0029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601" y="1352939"/>
            <a:ext cx="8399748" cy="470774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7CD93D-C264-3565-62D5-636B6ABA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B97B-4A53-44DA-BAD5-E30F26A4BE8D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69131C-60DC-95C8-174C-DE65E078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BCBB2D-BCE7-E5AA-F3CF-67AD4440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5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610E50-BC96-92E5-4CE5-822BF8CE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152" y="470069"/>
            <a:ext cx="4924420" cy="664178"/>
          </a:xfrm>
        </p:spPr>
        <p:txBody>
          <a:bodyPr/>
          <a:lstStyle/>
          <a:p>
            <a:r>
              <a:rPr lang="it-IT" err="1"/>
              <a:t>DEsign</a:t>
            </a:r>
            <a:r>
              <a:rPr lang="it-IT"/>
              <a:t> goal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117CB2-6E6B-7633-18C1-46E02801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B8E0F-ACFC-4C68-9DE2-2FA14E90D64B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E2AB40-F421-3F87-0D3E-6290939F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C648BF-43E0-973A-6320-0A593D337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17</a:t>
            </a:fld>
            <a:endParaRPr lang="en-US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F3A15D95-1470-04C7-03AC-7BAF4534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152" y="1325787"/>
            <a:ext cx="5362352" cy="385107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Rappresentano le caratteristiche su cui si deve concentrare il nostro sistema, i design goals sono stati suddivisi in: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Affidabilità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Manutenzione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End User</a:t>
            </a:r>
          </a:p>
          <a:p>
            <a:endParaRPr lang="it-IT"/>
          </a:p>
        </p:txBody>
      </p:sp>
      <p:pic>
        <p:nvPicPr>
          <p:cNvPr id="14" name="Immagine 13" descr="Immagine che contiene testo, schermata, numero, scherm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D7E531F-6D38-97B4-5069-D1249A85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38" y="994606"/>
            <a:ext cx="5594565" cy="476985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D1EA9B0-EA30-1DCC-39F3-9C052930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125" y="672604"/>
            <a:ext cx="5087307" cy="551279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D424D4B-753D-38C0-D381-15B0736EE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339" y="1093536"/>
            <a:ext cx="5743761" cy="436315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D5BB2E0-29E4-5537-72DF-89FFCC3CE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644" y="1319079"/>
            <a:ext cx="5906267" cy="255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9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80C282-21D4-31BE-CA69-2595170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548" y="686469"/>
            <a:ext cx="10240903" cy="676070"/>
          </a:xfrm>
        </p:spPr>
        <p:txBody>
          <a:bodyPr anchor="b">
            <a:normAutofit/>
          </a:bodyPr>
          <a:lstStyle/>
          <a:p>
            <a:r>
              <a:rPr lang="it-IT"/>
              <a:t>Trade off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7DBB2A04-6139-A4BC-DA30-E8FA8C1F5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548" y="1764854"/>
            <a:ext cx="10240903" cy="3328291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A0A1D0-E74F-9F1F-E7B9-0CF07498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E5F2-B555-4B92-9C7F-F8450736D8AF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F34AC8-11D4-D319-D86B-B72712A6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5FF9E7-C336-10C3-8EFA-509A7C22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DE6FA1-CFA0-D7F2-03FB-1B311C2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039" y="120535"/>
            <a:ext cx="7077919" cy="753323"/>
          </a:xfrm>
        </p:spPr>
        <p:txBody>
          <a:bodyPr/>
          <a:lstStyle/>
          <a:p>
            <a:pPr algn="ctr"/>
            <a:r>
              <a:rPr lang="it-IT"/>
              <a:t>Component </a:t>
            </a:r>
            <a:r>
              <a:rPr lang="it-IT" err="1"/>
              <a:t>diagram</a:t>
            </a:r>
            <a:endParaRPr lang="it-IT"/>
          </a:p>
        </p:txBody>
      </p:sp>
      <p:pic>
        <p:nvPicPr>
          <p:cNvPr id="7" name="Segnaposto contenuto 6" descr="Immagine che contiene testo, schermata, diagramma, scherm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C4C58D4D-E8F2-6758-E284-B40689593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894" y="1123296"/>
            <a:ext cx="7642211" cy="5187904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D7043B-337B-8F11-34D2-1BC9FB24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38F3-5560-420F-9AB7-1B31D21A1E91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E3ACC8-6E71-CD4D-597A-84B2EBE8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FDF584-942C-BFAE-6F9E-986EDDC0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38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DF3018-5755-8BD6-27D5-D1BCB948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82484"/>
            <a:ext cx="7772400" cy="722008"/>
          </a:xfrm>
        </p:spPr>
        <p:txBody>
          <a:bodyPr anchor="b">
            <a:normAutofit/>
          </a:bodyPr>
          <a:lstStyle/>
          <a:p>
            <a:pPr algn="ctr"/>
            <a:r>
              <a:rPr lang="it-IT" err="1"/>
              <a:t>Deployement</a:t>
            </a:r>
            <a:r>
              <a:rPr lang="it-IT"/>
              <a:t> </a:t>
            </a:r>
            <a:r>
              <a:rPr lang="it-IT" err="1"/>
              <a:t>diagram</a:t>
            </a: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CFEFB-BF24-E90A-111E-132FF8B9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B21B26-B0BE-469E-AF10-F56DB92DB5CD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9D37E6-FD04-112C-CD8E-E568E74A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66BB84-1CB4-59AB-B55E-C4199836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16" name="Segnaposto contenuto 15" descr="Immagine che contiene testo, diagramma, schermata, Parallel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32B8D8E-C7EF-24DF-4888-6AA760D87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544" y="882473"/>
            <a:ext cx="4996618" cy="5448715"/>
          </a:xfrm>
        </p:spPr>
      </p:pic>
    </p:spTree>
    <p:extLst>
      <p:ext uri="{BB962C8B-B14F-4D97-AF65-F5344CB8AC3E}">
        <p14:creationId xmlns:p14="http://schemas.microsoft.com/office/powerpoint/2010/main" val="174316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9C7CFF-B4B0-7458-36C5-5EFFB578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96" y="529758"/>
            <a:ext cx="4703180" cy="1065405"/>
          </a:xfrm>
        </p:spPr>
        <p:txBody>
          <a:bodyPr>
            <a:normAutofit fontScale="90000"/>
          </a:bodyPr>
          <a:lstStyle/>
          <a:p>
            <a:r>
              <a:rPr lang="it-IT" err="1"/>
              <a:t>Architectural</a:t>
            </a:r>
            <a:r>
              <a:rPr lang="it-IT"/>
              <a:t> </a:t>
            </a:r>
            <a:r>
              <a:rPr lang="it-IT" err="1"/>
              <a:t>diagram</a:t>
            </a:r>
            <a:endParaRPr lang="it-IT"/>
          </a:p>
        </p:txBody>
      </p:sp>
      <p:pic>
        <p:nvPicPr>
          <p:cNvPr id="7" name="Segnaposto contenuto 6" descr="Immagine che contiene testo, diagramma, linea, Parallel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6EACF1B-A6A3-DF8A-DE06-2DDE6F424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9351" y="529758"/>
            <a:ext cx="6669653" cy="5798483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06681C-26A5-C064-4086-99A5276F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0B6A-8018-428B-859B-64BFA082703A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656B4C-B90F-6259-DD15-E56F2B43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21</a:t>
            </a:fld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E13E4A-CB94-F942-18B2-7A68DA6418BB}"/>
              </a:ext>
            </a:extLst>
          </p:cNvPr>
          <p:cNvSpPr txBox="1"/>
          <p:nvPr/>
        </p:nvSpPr>
        <p:spPr>
          <a:xfrm>
            <a:off x="302105" y="1604920"/>
            <a:ext cx="381531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Utilizzo dello stile </a:t>
            </a:r>
            <a:r>
              <a:rPr lang="it-IT" b="1"/>
              <a:t>architetturale </a:t>
            </a:r>
            <a:r>
              <a:rPr lang="it-IT" b="1" err="1"/>
              <a:t>three-tier</a:t>
            </a:r>
            <a:r>
              <a:rPr lang="it-IT" b="1"/>
              <a:t> </a:t>
            </a:r>
            <a:r>
              <a:rPr lang="it-IT"/>
              <a:t>che divide il sistema in tre </a:t>
            </a:r>
            <a:r>
              <a:rPr lang="it-IT" err="1"/>
              <a:t>layer</a:t>
            </a:r>
            <a:r>
              <a:rPr lang="it-IT"/>
              <a:t> distinti:</a:t>
            </a:r>
            <a:r>
              <a:rPr lang="it-IT" b="1"/>
              <a:t> Interface Layer, Application </a:t>
            </a:r>
            <a:r>
              <a:rPr lang="it-IT" b="1" err="1"/>
              <a:t>Logic</a:t>
            </a:r>
            <a:r>
              <a:rPr lang="it-IT" b="1"/>
              <a:t> Layer e Storage Layer </a:t>
            </a:r>
            <a:r>
              <a:rPr lang="it-IT"/>
              <a:t>scelto per vari motivi: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Leggibilità 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Manutenzione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Riuso delle componenti 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Si adatta allo sviluppo di web </a:t>
            </a:r>
            <a:r>
              <a:rPr lang="it-IT" err="1"/>
              <a:t>application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I membri del hanno avuto già esperienze con questo stile architetturale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r>
              <a:rPr lang="it-IT"/>
              <a:t>Per ciascun sottosistema sono state individuate le componenti GUI, Controller, Service e DAO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9094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580469-0DF1-A59B-B135-9C59412E4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71" y="580878"/>
            <a:ext cx="4559663" cy="1464981"/>
          </a:xfrm>
        </p:spPr>
        <p:txBody>
          <a:bodyPr>
            <a:normAutofit fontScale="90000"/>
          </a:bodyPr>
          <a:lstStyle/>
          <a:p>
            <a:r>
              <a:rPr lang="it-IT" err="1"/>
              <a:t>Entity</a:t>
            </a:r>
            <a:r>
              <a:rPr lang="it-IT"/>
              <a:t> Class </a:t>
            </a:r>
            <a:r>
              <a:rPr lang="it-IT" err="1"/>
              <a:t>diagram</a:t>
            </a:r>
            <a:r>
              <a:rPr lang="it-IT"/>
              <a:t> ristrutturato</a:t>
            </a:r>
          </a:p>
        </p:txBody>
      </p:sp>
      <p:pic>
        <p:nvPicPr>
          <p:cNvPr id="7" name="Segnaposto contenuto 6" descr="Immagine che contiene testo, schermata, diagramma, Parallel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C2BE90C-5A7A-2F4D-29B5-EC45CBC57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9577" y="53162"/>
            <a:ext cx="4276039" cy="6343665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5EEE4B-68F2-2C7F-D930-5602CFA5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9320-2745-4424-B3AD-BD3A500410C1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498471-906E-E5B7-C330-DCDDA3DB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B161AB-13AC-3ABA-DD1F-3FD52384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22</a:t>
            </a:fld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1E99D7-BE0D-E4EB-F812-715F3970C968}"/>
              </a:ext>
            </a:extLst>
          </p:cNvPr>
          <p:cNvSpPr txBox="1"/>
          <p:nvPr/>
        </p:nvSpPr>
        <p:spPr>
          <a:xfrm>
            <a:off x="475808" y="2192972"/>
            <a:ext cx="436241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it-IT" b="1"/>
              <a:t>Modifiche effettuate</a:t>
            </a:r>
            <a:r>
              <a:rPr lang="it-IT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it-IT" b="1"/>
              <a:t>Rimozione</a:t>
            </a:r>
            <a:r>
              <a:rPr lang="it-IT"/>
              <a:t> </a:t>
            </a:r>
            <a:r>
              <a:rPr lang="it-IT" err="1"/>
              <a:t>entity</a:t>
            </a:r>
            <a:r>
              <a:rPr lang="it-IT"/>
              <a:t> Carrello</a:t>
            </a:r>
          </a:p>
          <a:p>
            <a:pPr marL="285750" indent="-285750">
              <a:buFont typeface="Arial"/>
              <a:buChar char="•"/>
            </a:pPr>
            <a:r>
              <a:rPr lang="it-IT" b="1"/>
              <a:t>Accorpate</a:t>
            </a:r>
            <a:r>
              <a:rPr lang="it-IT"/>
              <a:t> le </a:t>
            </a:r>
            <a:r>
              <a:rPr lang="it-IT" err="1"/>
              <a:t>entity</a:t>
            </a:r>
            <a:r>
              <a:rPr lang="it-IT"/>
              <a:t>  Utente registrato e Admin in Utente aggiungendo la variabile flag "ruolo"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Aggiunta dei tipi relativi al linguaggio Java</a:t>
            </a:r>
          </a:p>
        </p:txBody>
      </p:sp>
    </p:spTree>
    <p:extLst>
      <p:ext uri="{BB962C8B-B14F-4D97-AF65-F5344CB8AC3E}">
        <p14:creationId xmlns:p14="http://schemas.microsoft.com/office/powerpoint/2010/main" val="4226551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CDE3B-0EE5-181C-5ADD-B48C7DB8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793793" cy="192143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700"/>
              <a:t>Controllo degli accessi e sicurezza e controllo globale</a:t>
            </a:r>
          </a:p>
        </p:txBody>
      </p:sp>
      <p:pic>
        <p:nvPicPr>
          <p:cNvPr id="7" name="Segnaposto contenuto 6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7F3799AD-7C3C-3335-5E78-B3C788F8E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690" r="-1" b="11701"/>
          <a:stretch/>
        </p:blipFill>
        <p:spPr>
          <a:xfrm>
            <a:off x="5648130" y="987425"/>
            <a:ext cx="5707257" cy="4873625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103244A-26BE-3EF3-2C01-5AB7DF0F5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489200"/>
            <a:ext cx="5046132" cy="3379787"/>
          </a:xfrm>
        </p:spPr>
        <p:txBody>
          <a:bodyPr>
            <a:normAutofit fontScale="92500"/>
          </a:bodyPr>
          <a:lstStyle/>
          <a:p>
            <a:r>
              <a:rPr lang="it-IT" sz="1400" b="0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 seguito viene mostrata la matrice degli accessi per poter tenere traccia di quali attori possono accedere a quali servizi offerti dal sistema. </a:t>
            </a:r>
          </a:p>
          <a:p>
            <a:r>
              <a:rPr lang="it-IT" sz="1400" b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Controllo di flusso globale: </a:t>
            </a:r>
            <a:r>
              <a:rPr lang="it-IT" sz="140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Digitronics</a:t>
            </a:r>
            <a:r>
              <a:rPr lang="it-IT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è un'applicazione interattiva basata su un meccanismo </a:t>
            </a:r>
            <a:r>
              <a:rPr lang="it-IT" sz="14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event-</a:t>
            </a:r>
            <a:r>
              <a:rPr lang="it-IT" sz="1400" b="1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driven</a:t>
            </a:r>
            <a:endParaRPr lang="it-IT" sz="1400" b="1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L'utente utilizza un'interfaccia grafica per attivare funzionalità specifiche.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Ogni comando genera un </a:t>
            </a:r>
            <a:r>
              <a:rPr lang="it-IT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evento</a:t>
            </a:r>
            <a:r>
              <a:rPr lang="it-I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gestito da un </a:t>
            </a:r>
            <a:r>
              <a:rPr lang="it-IT" b="1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handler</a:t>
            </a:r>
            <a:r>
              <a:rPr lang="it-I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dedicato.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Il gestore indirizza il flusso di controllo al sottosistema della logica di controllo, che si collega ai servizi per eseguire la logica applicativa.</a:t>
            </a:r>
          </a:p>
          <a:p>
            <a:endParaRPr lang="it-IT" sz="1400" b="1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40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BB4ED2-492C-2BA9-DE8D-79648530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B034B7-9A95-4C57-A1A1-CAE1250FD57D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8F256D-F68B-BFBC-CD5A-B75B87B9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99057E-7D2F-16BC-FA2E-603BED39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22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3799D2-D155-740D-6133-8E749221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642"/>
            <a:ext cx="10293094" cy="502803"/>
          </a:xfrm>
        </p:spPr>
        <p:txBody>
          <a:bodyPr>
            <a:normAutofit fontScale="90000"/>
          </a:bodyPr>
          <a:lstStyle/>
          <a:p>
            <a:r>
              <a:rPr lang="it-IT" err="1"/>
              <a:t>UcD</a:t>
            </a:r>
            <a:r>
              <a:rPr lang="it-IT"/>
              <a:t> </a:t>
            </a:r>
            <a:r>
              <a:rPr lang="it-IT" err="1"/>
              <a:t>boundary</a:t>
            </a:r>
            <a:r>
              <a:rPr lang="it-IT"/>
              <a:t>: UCBC_1 </a:t>
            </a:r>
            <a:endParaRPr lang="it-IT">
              <a:solidFill>
                <a:srgbClr val="000000"/>
              </a:solidFill>
              <a:latin typeface="Avenir Next LT Pro"/>
              <a:ea typeface="Verdana"/>
            </a:endParaRPr>
          </a:p>
        </p:txBody>
      </p:sp>
      <p:pic>
        <p:nvPicPr>
          <p:cNvPr id="7" name="Segnaposto contenuto 6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37108C32-F3B4-78D9-474F-7223B2B16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02" t="-2" r="1990" b="1509"/>
          <a:stretch/>
        </p:blipFill>
        <p:spPr>
          <a:xfrm>
            <a:off x="3047179" y="536378"/>
            <a:ext cx="6036838" cy="5451202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3873ED-EC00-13B5-F71D-73F420B7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0A16-81EF-4624-953C-B82AE8E0A3D9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06B696-7A1F-9050-4173-3647D849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347D89-41AA-5B6D-1142-3437DF93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78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50ACE8-CF51-0A6B-FA96-7680D7DE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642"/>
            <a:ext cx="10293094" cy="523680"/>
          </a:xfrm>
        </p:spPr>
        <p:txBody>
          <a:bodyPr/>
          <a:lstStyle/>
          <a:p>
            <a:r>
              <a:rPr lang="it-IT" sz="3200" err="1"/>
              <a:t>UcD</a:t>
            </a:r>
            <a:r>
              <a:rPr lang="it-IT" sz="3200"/>
              <a:t> </a:t>
            </a:r>
            <a:r>
              <a:rPr lang="it-IT" sz="3200" err="1"/>
              <a:t>boundary</a:t>
            </a:r>
            <a:r>
              <a:rPr lang="it-IT" sz="3200"/>
              <a:t>: UCBC_2 </a:t>
            </a:r>
            <a:endParaRPr lang="it-IT"/>
          </a:p>
        </p:txBody>
      </p:sp>
      <p:pic>
        <p:nvPicPr>
          <p:cNvPr id="12" name="Segnaposto contenuto 11" descr="Immagine che contiene testo, elettronica, schermata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C218378-59A2-476E-9840-7A60AFE0A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7175" y="559625"/>
            <a:ext cx="5741698" cy="5678506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AC1D88-431E-EBD3-20E3-62493CAB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FDD6-2D76-43A3-B2FA-9BA76CB2C056}" type="datetime1">
              <a:rPr lang="it-IT"/>
              <a:t>26/06/2025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C97AC3-54BE-FF58-889C-FDECB483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212EA1-FF62-2930-AAEA-948D706E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0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D0B2D-4190-6751-238A-11B063DE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642"/>
            <a:ext cx="10293094" cy="513241"/>
          </a:xfrm>
        </p:spPr>
        <p:txBody>
          <a:bodyPr/>
          <a:lstStyle/>
          <a:p>
            <a:r>
              <a:rPr lang="it-IT" sz="3200" err="1"/>
              <a:t>UcD</a:t>
            </a:r>
            <a:r>
              <a:rPr lang="it-IT" sz="3200"/>
              <a:t> </a:t>
            </a:r>
            <a:r>
              <a:rPr lang="it-IT" sz="3200" err="1"/>
              <a:t>boundary</a:t>
            </a:r>
            <a:r>
              <a:rPr lang="it-IT" sz="3200"/>
              <a:t>: UCBC_3</a:t>
            </a:r>
            <a:endParaRPr lang="it-IT"/>
          </a:p>
        </p:txBody>
      </p:sp>
      <p:pic>
        <p:nvPicPr>
          <p:cNvPr id="7" name="Segnaposto contenuto 6" descr="Immagine che contiene testo, elettronica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F101027-573F-0B1E-83D6-A77BB9054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20" t="2375" r="-217" b="9499"/>
          <a:stretch/>
        </p:blipFill>
        <p:spPr>
          <a:xfrm>
            <a:off x="3205782" y="924967"/>
            <a:ext cx="5768616" cy="5010454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B64DD1-2F3E-F6AB-6EE0-4AE19DC5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3F42-03DE-492F-89E7-3FCF5B90A0EF}" type="datetime1">
              <a:rPr lang="it-IT"/>
              <a:t>26/06/2025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E1E668-7427-A98E-F14D-3D522B3D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984C8D-FE62-E26A-756D-7EC53E3F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427C38-11AA-A2D9-8481-410B22DAE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14" y="274856"/>
            <a:ext cx="5695202" cy="606526"/>
          </a:xfrm>
        </p:spPr>
        <p:txBody>
          <a:bodyPr/>
          <a:lstStyle/>
          <a:p>
            <a:r>
              <a:rPr lang="it-IT"/>
              <a:t>Pattern adapter</a:t>
            </a:r>
          </a:p>
        </p:txBody>
      </p:sp>
      <p:pic>
        <p:nvPicPr>
          <p:cNvPr id="7" name="Segnaposto contenuto 6" descr="Immagine che contiene testo, schermata, diagramma, Parallel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C3BDE41-53C1-20A6-E20F-282E165AE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4607" y="637068"/>
            <a:ext cx="6030344" cy="5769941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077768-270B-81B1-BC4C-9BC086E8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1B0F-7951-4E4F-B967-64F9E4418BD5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865982-526F-ABC4-D149-A2E09505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0E4DEC-A261-5F35-8046-3FA86F4B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27</a:t>
            </a:fld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7C9ECD-D1EA-94B3-A319-8DF838EABD3B}"/>
              </a:ext>
            </a:extLst>
          </p:cNvPr>
          <p:cNvSpPr txBox="1"/>
          <p:nvPr/>
        </p:nvSpPr>
        <p:spPr>
          <a:xfrm>
            <a:off x="457669" y="1297209"/>
            <a:ext cx="461443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L'Adapter </a:t>
            </a:r>
            <a:r>
              <a:rPr lang="it-IT" b="1" err="1"/>
              <a:t>OpenStreetMapVerificaIndirizzoApiAdapterImpl</a:t>
            </a:r>
            <a:r>
              <a:rPr lang="it-IT"/>
              <a:t>  permette di utilizzare l'API esterna di </a:t>
            </a:r>
            <a:r>
              <a:rPr lang="it-IT" err="1"/>
              <a:t>OpenStreetMap</a:t>
            </a:r>
            <a:r>
              <a:rPr lang="it-IT"/>
              <a:t> </a:t>
            </a:r>
            <a:r>
              <a:rPr lang="it-IT" b="1"/>
              <a:t>riducendo al minimo l'impatto</a:t>
            </a:r>
            <a:r>
              <a:rPr lang="it-IT"/>
              <a:t> sul resto del progetto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È </a:t>
            </a:r>
            <a:r>
              <a:rPr lang="it-IT" err="1"/>
              <a:t>l'adapter</a:t>
            </a:r>
            <a:r>
              <a:rPr lang="it-IT"/>
              <a:t> che si </a:t>
            </a:r>
            <a:r>
              <a:rPr lang="it-IT" i="1" u="sng"/>
              <a:t>occupa di inviare richieste HTTP</a:t>
            </a:r>
            <a:r>
              <a:rPr lang="it-IT"/>
              <a:t> al servizio di </a:t>
            </a:r>
            <a:r>
              <a:rPr lang="it-IT" err="1"/>
              <a:t>OpenStreetMap</a:t>
            </a:r>
            <a:r>
              <a:rPr lang="it-IT"/>
              <a:t> e di </a:t>
            </a:r>
            <a:r>
              <a:rPr lang="it-IT" i="1" u="sng"/>
              <a:t>tradurre le risposte JSON</a:t>
            </a:r>
            <a:r>
              <a:rPr lang="it-IT"/>
              <a:t> per capire se l'indirizzo è esistente o meno</a:t>
            </a:r>
          </a:p>
        </p:txBody>
      </p:sp>
    </p:spTree>
    <p:extLst>
      <p:ext uri="{BB962C8B-B14F-4D97-AF65-F5344CB8AC3E}">
        <p14:creationId xmlns:p14="http://schemas.microsoft.com/office/powerpoint/2010/main" val="1038848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8BC0E-F713-03E5-F275-FF93DB15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1"/>
            <a:ext cx="10240903" cy="675410"/>
          </a:xfrm>
        </p:spPr>
        <p:txBody>
          <a:bodyPr/>
          <a:lstStyle/>
          <a:p>
            <a:r>
              <a:rPr lang="it-IT"/>
              <a:t>Pattern </a:t>
            </a:r>
            <a:r>
              <a:rPr lang="it-IT" err="1"/>
              <a:t>facade</a:t>
            </a: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E8E349-6AAE-4EB5-A034-984D2FAC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0ED0-99BB-4430-B5FA-66AFC307274D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220026-FA90-82E4-A080-564ED1B8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BD8C92-814F-BAD0-9C5E-C6738AE1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C81EE2-54CC-86AC-9B04-3DB8F96317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45" y="2894050"/>
            <a:ext cx="6329919" cy="293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3DE69AC-F870-5FCA-3BCA-C4DCC7448230}"/>
              </a:ext>
            </a:extLst>
          </p:cNvPr>
          <p:cNvSpPr txBox="1"/>
          <p:nvPr/>
        </p:nvSpPr>
        <p:spPr>
          <a:xfrm>
            <a:off x="7848600" y="3161937"/>
            <a:ext cx="4343400" cy="1651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it-IT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Vantaggi: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Riduce la complessità del sistema.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Migliora il disaccoppiamento.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Facilita la manutenzione.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1343E5E-DBF8-CE4D-8583-C2F3A1818E81}"/>
              </a:ext>
            </a:extLst>
          </p:cNvPr>
          <p:cNvSpPr txBox="1"/>
          <p:nvPr/>
        </p:nvSpPr>
        <p:spPr>
          <a:xfrm>
            <a:off x="457200" y="1018311"/>
            <a:ext cx="10444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i="0" err="1">
                <a:solidFill>
                  <a:srgbClr val="000000"/>
                </a:solidFill>
                <a:effectLst/>
              </a:rPr>
              <a:t>Digitronics</a:t>
            </a:r>
            <a:r>
              <a:rPr lang="it-IT" sz="1800" b="0" i="0">
                <a:solidFill>
                  <a:srgbClr val="000000"/>
                </a:solidFill>
                <a:effectLst/>
              </a:rPr>
              <a:t> adotta il design pattern </a:t>
            </a:r>
            <a:r>
              <a:rPr lang="it-IT" sz="1800" b="0" i="0" err="1">
                <a:solidFill>
                  <a:srgbClr val="000000"/>
                </a:solidFill>
                <a:effectLst/>
              </a:rPr>
              <a:t>Facade</a:t>
            </a:r>
            <a:r>
              <a:rPr lang="it-IT" sz="1800" b="0" i="0">
                <a:solidFill>
                  <a:srgbClr val="000000"/>
                </a:solidFill>
                <a:effectLst/>
              </a:rPr>
              <a:t> per organizzare tutta la sua logica di business, semplificando l'interazione con essa. In particolare, </a:t>
            </a:r>
            <a:r>
              <a:rPr lang="it-IT" sz="1800" b="0" i="0" err="1">
                <a:solidFill>
                  <a:srgbClr val="000000"/>
                </a:solidFill>
                <a:effectLst/>
              </a:rPr>
              <a:t>Digitronics</a:t>
            </a:r>
            <a:r>
              <a:rPr lang="it-IT" sz="1800" b="0" i="0">
                <a:solidFill>
                  <a:srgbClr val="000000"/>
                </a:solidFill>
                <a:effectLst/>
              </a:rPr>
              <a:t> utilizza il </a:t>
            </a:r>
            <a:r>
              <a:rPr lang="it-IT" sz="1800" b="0" i="0" err="1">
                <a:solidFill>
                  <a:srgbClr val="000000"/>
                </a:solidFill>
                <a:effectLst/>
              </a:rPr>
              <a:t>Facade</a:t>
            </a:r>
            <a:r>
              <a:rPr lang="it-IT" sz="1800" b="0" i="0">
                <a:solidFill>
                  <a:srgbClr val="000000"/>
                </a:solidFill>
                <a:effectLst/>
              </a:rPr>
              <a:t> per ciascuno dei suoi sottosistemi, implementandolo tramite interfacce che consentono di accedere ai metodi interni in modo strutturato e controllato. Di seguito un esempio di </a:t>
            </a:r>
            <a:r>
              <a:rPr lang="it-IT" sz="1800" b="0" i="0" err="1">
                <a:solidFill>
                  <a:srgbClr val="000000"/>
                </a:solidFill>
                <a:effectLst/>
              </a:rPr>
              <a:t>Facade</a:t>
            </a:r>
            <a:r>
              <a:rPr lang="it-IT" sz="1800" b="0" i="0">
                <a:solidFill>
                  <a:srgbClr val="000000"/>
                </a:solidFill>
                <a:effectLst/>
              </a:rPr>
              <a:t> nel sistema </a:t>
            </a:r>
            <a:r>
              <a:rPr lang="it-IT" sz="1800" b="0" i="0" err="1">
                <a:solidFill>
                  <a:srgbClr val="000000"/>
                </a:solidFill>
                <a:effectLst/>
              </a:rPr>
              <a:t>Digitronics</a:t>
            </a:r>
            <a:r>
              <a:rPr lang="it-IT" sz="1800" b="0" i="0">
                <a:solidFill>
                  <a:srgbClr val="000000"/>
                </a:solidFill>
                <a:effectLst/>
              </a:rPr>
              <a:t>: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421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0903F2-E15E-665C-B4B7-0D3E0CB1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49" y="232363"/>
            <a:ext cx="10979243" cy="495694"/>
          </a:xfrm>
        </p:spPr>
        <p:txBody>
          <a:bodyPr>
            <a:normAutofit fontScale="90000"/>
          </a:bodyPr>
          <a:lstStyle/>
          <a:p>
            <a:r>
              <a:rPr lang="it-IT"/>
              <a:t>Test plan: Approccio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B7F196-363B-7C59-AB12-0AFAF8D8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50" y="734350"/>
            <a:ext cx="11228389" cy="533676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 b="1"/>
              <a:t>Progettazione</a:t>
            </a:r>
            <a:r>
              <a:rPr lang="it-IT"/>
              <a:t>:Testing di sistema(durante il RAD), Testing di integrazione(durante SDD) e Testing di unità(durante implementazione)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endParaRPr lang="it-IT"/>
          </a:p>
          <a:p>
            <a:r>
              <a:rPr lang="it-IT" b="1"/>
              <a:t>Esecuzione</a:t>
            </a:r>
            <a:r>
              <a:rPr lang="it-IT"/>
              <a:t>: Testing di unità, Testing di integrazione e Testing di sistema</a:t>
            </a:r>
          </a:p>
          <a:p>
            <a:endParaRPr lang="it-IT"/>
          </a:p>
          <a:p>
            <a:endParaRPr lang="it-IT"/>
          </a:p>
          <a:p>
            <a:r>
              <a:rPr lang="it-IT"/>
              <a:t>I test saranno sviluppati sui service e controlli delle 3 funzionalità che si è deciso di sviluppare: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Aggiunta recensione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Modifica prodotti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/>
              <a:t>Checkout prodotti</a:t>
            </a:r>
          </a:p>
          <a:p>
            <a:pPr marL="0" indent="0">
              <a:buNone/>
            </a:pP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ED566C-B791-DBBC-C3A3-B0D43C1F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51D4-664C-4960-B931-67738A0CE455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4F8D69-7B62-77E1-483A-0B70D2F9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906874-8D91-7050-53FD-40A6145C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29</a:t>
            </a:fld>
            <a:endParaRPr lang="en-US"/>
          </a:p>
        </p:txBody>
      </p: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D77F3AB4-A447-27ED-D19C-4A2129D58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044141"/>
              </p:ext>
            </p:extLst>
          </p:nvPr>
        </p:nvGraphicFramePr>
        <p:xfrm>
          <a:off x="764465" y="-114814"/>
          <a:ext cx="6067245" cy="4304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52" name="Diagramma 451">
            <a:extLst>
              <a:ext uri="{FF2B5EF4-FFF2-40B4-BE49-F238E27FC236}">
                <a16:creationId xmlns:a16="http://schemas.microsoft.com/office/drawing/2014/main" id="{3A6A2865-15D6-627F-423A-C81AA366B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137053"/>
              </p:ext>
            </p:extLst>
          </p:nvPr>
        </p:nvGraphicFramePr>
        <p:xfrm>
          <a:off x="762001" y="375213"/>
          <a:ext cx="6067063" cy="6040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87161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AA35DB-E2DE-E259-2F38-A79EE30C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942-D214-4FCE-820D-5976C4D6F7AF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49D156-386F-2A1E-C446-B6F4BC87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71FC36-671C-118F-CFD3-F16735B7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30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1DF2D39-AA5D-29DB-6418-102B8599D977}"/>
              </a:ext>
            </a:extLst>
          </p:cNvPr>
          <p:cNvSpPr txBox="1"/>
          <p:nvPr/>
        </p:nvSpPr>
        <p:spPr>
          <a:xfrm>
            <a:off x="596097" y="528578"/>
            <a:ext cx="11076971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it-IT" sz="1900" b="1" dirty="0">
                <a:cs typeface="Arial"/>
              </a:rPr>
              <a:t>Testing di unità</a:t>
            </a:r>
            <a:r>
              <a:rPr lang="en-US" sz="1900" b="1" dirty="0">
                <a:cs typeface="Arial"/>
              </a:rPr>
              <a:t>​</a:t>
            </a:r>
            <a:endParaRPr lang="it-IT" b="1" dirty="0">
              <a:cs typeface="Arial"/>
            </a:endParaRPr>
          </a:p>
          <a:p>
            <a:pPr marL="685800" lvl="1" indent="-228600">
              <a:buFont typeface="Courier New,monospace"/>
              <a:buChar char="o"/>
            </a:pPr>
            <a:r>
              <a:rPr lang="it-IT" sz="1900" dirty="0">
                <a:cs typeface="Arial"/>
              </a:rPr>
              <a:t>Approccio </a:t>
            </a:r>
            <a:r>
              <a:rPr lang="it-IT" sz="1900" b="1" dirty="0">
                <a:cs typeface="Arial"/>
              </a:rPr>
              <a:t>black-box</a:t>
            </a:r>
            <a:endParaRPr lang="en-US" sz="1900" b="1" dirty="0">
              <a:cs typeface="Arial"/>
            </a:endParaRPr>
          </a:p>
          <a:p>
            <a:pPr marL="685800" lvl="1" indent="-228600">
              <a:buFont typeface="Courier New,monospace"/>
              <a:buChar char="o"/>
            </a:pPr>
            <a:r>
              <a:rPr lang="it-IT" sz="1900" dirty="0">
                <a:cs typeface="Arial"/>
              </a:rPr>
              <a:t>Sviluppo delle classi di test in parallelo alle classi di produzione</a:t>
            </a:r>
          </a:p>
          <a:p>
            <a:pPr marL="685800" lvl="1" indent="-228600">
              <a:buFont typeface="Courier New,monospace"/>
              <a:buChar char="o"/>
            </a:pPr>
            <a:r>
              <a:rPr lang="it-IT" sz="1900" dirty="0">
                <a:cs typeface="Arial"/>
              </a:rPr>
              <a:t>Effettuato esclusivamente su classi </a:t>
            </a:r>
            <a:r>
              <a:rPr lang="it-IT" sz="1900" b="1" dirty="0">
                <a:cs typeface="Arial"/>
              </a:rPr>
              <a:t>Service</a:t>
            </a:r>
            <a:r>
              <a:rPr lang="it-IT" sz="1900" dirty="0">
                <a:cs typeface="Arial"/>
              </a:rPr>
              <a:t> e </a:t>
            </a:r>
            <a:r>
              <a:rPr lang="it-IT" sz="1900" b="1" dirty="0">
                <a:cs typeface="Arial"/>
              </a:rPr>
              <a:t>Control</a:t>
            </a:r>
            <a:r>
              <a:rPr lang="it-IT" sz="1900" dirty="0">
                <a:cs typeface="Arial"/>
              </a:rPr>
              <a:t> coinvolte nelle funzionalità che si è deciso di testare</a:t>
            </a:r>
          </a:p>
          <a:p>
            <a:pPr marL="685800" lvl="1" indent="-228600">
              <a:buFont typeface="Courier New,monospace"/>
              <a:buChar char="o"/>
            </a:pPr>
            <a:r>
              <a:rPr lang="it-IT" sz="1900" dirty="0">
                <a:cs typeface="Arial"/>
              </a:rPr>
              <a:t>Tecnologie utilizzate: </a:t>
            </a:r>
            <a:r>
              <a:rPr lang="it-IT" sz="1900" b="1" dirty="0" err="1">
                <a:cs typeface="Arial"/>
              </a:rPr>
              <a:t>JUnit</a:t>
            </a:r>
            <a:r>
              <a:rPr lang="it-IT" sz="1900" dirty="0">
                <a:cs typeface="Arial"/>
              </a:rPr>
              <a:t>, </a:t>
            </a:r>
            <a:r>
              <a:rPr lang="it-IT" sz="1900" b="1" dirty="0" err="1">
                <a:cs typeface="Arial"/>
              </a:rPr>
              <a:t>Mockito</a:t>
            </a:r>
            <a:r>
              <a:rPr lang="it-IT" sz="1900" dirty="0">
                <a:cs typeface="Arial"/>
              </a:rPr>
              <a:t>, </a:t>
            </a:r>
            <a:r>
              <a:rPr lang="it-IT" sz="1900" b="1" dirty="0" err="1">
                <a:cs typeface="Arial"/>
              </a:rPr>
              <a:t>Intellij</a:t>
            </a:r>
            <a:r>
              <a:rPr lang="it-IT" sz="1900" b="1" dirty="0">
                <a:cs typeface="Arial"/>
              </a:rPr>
              <a:t> Code Coverage</a:t>
            </a:r>
            <a:r>
              <a:rPr lang="it-IT" sz="1900" dirty="0">
                <a:cs typeface="Arial"/>
              </a:rPr>
              <a:t> e </a:t>
            </a:r>
            <a:r>
              <a:rPr lang="it-IT" sz="1900" b="1" dirty="0" err="1">
                <a:cs typeface="Arial"/>
              </a:rPr>
              <a:t>Maven</a:t>
            </a:r>
          </a:p>
          <a:p>
            <a:pPr marL="342900" indent="-342900">
              <a:buFont typeface="Arial"/>
              <a:buChar char="•"/>
            </a:pPr>
            <a:r>
              <a:rPr lang="it-IT" sz="1900" b="1" dirty="0">
                <a:cs typeface="Arial"/>
              </a:rPr>
              <a:t>Testing di integrazione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Strategia </a:t>
            </a:r>
            <a:r>
              <a:rPr lang="it-IT" sz="1900" b="1" dirty="0">
                <a:cs typeface="Arial"/>
              </a:rPr>
              <a:t>bottom-up</a:t>
            </a:r>
            <a:r>
              <a:rPr lang="it-IT" sz="1900" dirty="0">
                <a:cs typeface="Arial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Anch’esso effettuato sulle stesse classi Service e Control del testing di unità ma svolto in classi di test diverse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Tecnologie utilizzate: </a:t>
            </a:r>
            <a:r>
              <a:rPr lang="it-IT" sz="1900" b="1" dirty="0" err="1">
                <a:cs typeface="Arial"/>
              </a:rPr>
              <a:t>JUnit</a:t>
            </a:r>
            <a:r>
              <a:rPr lang="it-IT" sz="1900" dirty="0">
                <a:cs typeface="Arial"/>
              </a:rPr>
              <a:t>, </a:t>
            </a:r>
            <a:r>
              <a:rPr lang="it-IT" sz="1900" b="1" dirty="0" err="1">
                <a:cs typeface="Arial"/>
              </a:rPr>
              <a:t>Mockito</a:t>
            </a:r>
            <a:r>
              <a:rPr lang="it-IT" sz="1900" dirty="0">
                <a:cs typeface="Arial"/>
              </a:rPr>
              <a:t>, </a:t>
            </a:r>
            <a:r>
              <a:rPr lang="it-IT" sz="1900" b="1" dirty="0" err="1">
                <a:cs typeface="Arial"/>
              </a:rPr>
              <a:t>Intellij</a:t>
            </a:r>
            <a:r>
              <a:rPr lang="it-IT" sz="1900" b="1" dirty="0">
                <a:cs typeface="Arial"/>
              </a:rPr>
              <a:t> Code Coverage,</a:t>
            </a:r>
            <a:r>
              <a:rPr lang="it-IT" sz="1900" dirty="0">
                <a:cs typeface="Arial"/>
              </a:rPr>
              <a:t> </a:t>
            </a:r>
            <a:r>
              <a:rPr lang="it-IT" sz="1900" b="1" dirty="0" err="1">
                <a:cs typeface="Arial"/>
              </a:rPr>
              <a:t>Maven</a:t>
            </a:r>
            <a:r>
              <a:rPr lang="it-IT" sz="1900" b="1" dirty="0">
                <a:cs typeface="Arial"/>
              </a:rPr>
              <a:t> </a:t>
            </a:r>
            <a:r>
              <a:rPr lang="it-IT" sz="1900" dirty="0">
                <a:cs typeface="Arial"/>
              </a:rPr>
              <a:t>e </a:t>
            </a:r>
            <a:r>
              <a:rPr lang="it-IT" sz="1900" b="1" dirty="0">
                <a:cs typeface="Arial"/>
              </a:rPr>
              <a:t>database H2 </a:t>
            </a:r>
            <a:r>
              <a:rPr lang="it-IT" sz="1900" dirty="0">
                <a:cs typeface="Arial"/>
              </a:rPr>
              <a:t>in memoria</a:t>
            </a:r>
            <a:endParaRPr lang="it-IT" sz="1900" b="1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it-IT" sz="1900" b="1" dirty="0">
                <a:cs typeface="Arial"/>
              </a:rPr>
              <a:t>Testing di sistema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Svolgimento di testing funzionale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Individuazione dei test case tramite </a:t>
            </a:r>
            <a:r>
              <a:rPr lang="it-IT" sz="1900" b="1" dirty="0" err="1">
                <a:cs typeface="Arial"/>
              </a:rPr>
              <a:t>category</a:t>
            </a:r>
            <a:r>
              <a:rPr lang="it-IT" sz="1900" b="1" dirty="0">
                <a:cs typeface="Arial"/>
              </a:rPr>
              <a:t> </a:t>
            </a:r>
            <a:r>
              <a:rPr lang="it-IT" sz="1900" b="1" dirty="0" err="1">
                <a:cs typeface="Arial"/>
              </a:rPr>
              <a:t>partition</a:t>
            </a:r>
            <a:r>
              <a:rPr lang="it-IT" sz="1900" b="1" dirty="0">
                <a:cs typeface="Arial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900" dirty="0">
                <a:cs typeface="Arial"/>
              </a:rPr>
              <a:t>Utilizzo di </a:t>
            </a:r>
            <a:r>
              <a:rPr lang="it-IT" sz="1900" b="1" dirty="0" err="1">
                <a:cs typeface="Arial"/>
              </a:rPr>
              <a:t>Selenium</a:t>
            </a:r>
            <a:r>
              <a:rPr lang="it-IT" sz="1900" b="1" dirty="0">
                <a:cs typeface="Arial"/>
              </a:rPr>
              <a:t> IDE </a:t>
            </a:r>
            <a:r>
              <a:rPr lang="it-IT" sz="1900" dirty="0">
                <a:cs typeface="Arial"/>
              </a:rPr>
              <a:t>per effettuare i test</a:t>
            </a:r>
          </a:p>
          <a:p>
            <a:pPr marL="342900" indent="-342900">
              <a:buFont typeface="Arial"/>
              <a:buChar char="•"/>
            </a:pPr>
            <a:endParaRPr lang="it-IT" sz="1900"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endParaRPr lang="it-IT" sz="1900" b="1">
              <a:cs typeface="Arial"/>
            </a:endParaRPr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30807337-A77F-4A36-5A89-B812CEF26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399882"/>
              </p:ext>
            </p:extLst>
          </p:nvPr>
        </p:nvGraphicFramePr>
        <p:xfrm>
          <a:off x="1126070" y="3882555"/>
          <a:ext cx="3649132" cy="1253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35EE63EF-3117-756C-32FE-3DE466B19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673385"/>
              </p:ext>
            </p:extLst>
          </p:nvPr>
        </p:nvGraphicFramePr>
        <p:xfrm>
          <a:off x="1126070" y="4599590"/>
          <a:ext cx="5714996" cy="1820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63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2" grpId="1">
        <p:bldAsOne/>
      </p:bldGraphic>
      <p:bldGraphic spid="3" grpId="0">
        <p:bldAsOne/>
      </p:bldGraphic>
      <p:bldGraphic spid="3" grpId="1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CDBFFF-4283-823A-5C24-184E8903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927"/>
            <a:ext cx="10290864" cy="636727"/>
          </a:xfrm>
        </p:spPr>
        <p:txBody>
          <a:bodyPr>
            <a:normAutofit/>
          </a:bodyPr>
          <a:lstStyle/>
          <a:p>
            <a:r>
              <a:rPr lang="it-IT"/>
              <a:t>Test case: </a:t>
            </a:r>
            <a:r>
              <a:rPr lang="it-IT" err="1"/>
              <a:t>REcensione</a:t>
            </a: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A98F1F-44D0-1F94-6733-FE03816C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8D-3C07-4504-A13C-F94167FB5FA0}" type="datetime1">
              <a:rPr lang="it-IT"/>
              <a:t>26/06/2025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AB40CE-215A-19E0-8E08-FBE61314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98E431-785D-831F-E71F-FF50A722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31</a:t>
            </a:fld>
            <a:endParaRPr lang="en-US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F503761-A7D6-E84F-B08A-770D42270D08}"/>
              </a:ext>
            </a:extLst>
          </p:cNvPr>
          <p:cNvSpPr txBox="1"/>
          <p:nvPr/>
        </p:nvSpPr>
        <p:spPr>
          <a:xfrm>
            <a:off x="110648" y="966591"/>
            <a:ext cx="366177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Verdana"/>
              </a:rPr>
              <a:t>Per </a:t>
            </a:r>
            <a:r>
              <a:rPr lang="en-US" sz="1600" err="1">
                <a:ea typeface="Verdana"/>
              </a:rPr>
              <a:t>definire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i</a:t>
            </a:r>
            <a:r>
              <a:rPr lang="en-US" sz="1600">
                <a:ea typeface="Verdana"/>
              </a:rPr>
              <a:t> test frame </a:t>
            </a:r>
            <a:r>
              <a:rPr lang="en-US" sz="1600" err="1">
                <a:ea typeface="Verdana"/>
              </a:rPr>
              <a:t>si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utilizzerà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l'approccio</a:t>
            </a:r>
            <a:r>
              <a:rPr lang="en-US" sz="1600">
                <a:ea typeface="Verdana"/>
              </a:rPr>
              <a:t> </a:t>
            </a:r>
            <a:r>
              <a:rPr lang="en-US" sz="1600" b="1">
                <a:ea typeface="Verdana"/>
              </a:rPr>
              <a:t>category partition</a:t>
            </a:r>
            <a:r>
              <a:rPr lang="en-US" sz="1600">
                <a:ea typeface="Verdana"/>
              </a:rPr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Verdana"/>
              </a:rPr>
              <a:t>Gli</a:t>
            </a:r>
            <a:r>
              <a:rPr lang="en-US" sz="1600">
                <a:ea typeface="Verdana"/>
              </a:rPr>
              <a:t> input </a:t>
            </a:r>
            <a:r>
              <a:rPr lang="en-US" sz="1600" err="1">
                <a:ea typeface="Verdana"/>
              </a:rPr>
              <a:t>verranno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suddivisi</a:t>
            </a:r>
            <a:r>
              <a:rPr lang="en-US" sz="1600">
                <a:ea typeface="Verdana"/>
              </a:rPr>
              <a:t> in </a:t>
            </a:r>
            <a:r>
              <a:rPr lang="en-US" sz="1600" b="1" err="1">
                <a:ea typeface="Verdana"/>
              </a:rPr>
              <a:t>classi</a:t>
            </a:r>
            <a:r>
              <a:rPr lang="en-US" sz="1600" b="1">
                <a:ea typeface="Verdana"/>
              </a:rPr>
              <a:t> di </a:t>
            </a:r>
            <a:r>
              <a:rPr lang="en-US" sz="1600" b="1" err="1">
                <a:ea typeface="Verdana"/>
              </a:rPr>
              <a:t>equivalenza</a:t>
            </a:r>
            <a:r>
              <a:rPr lang="en-US" sz="1600">
                <a:ea typeface="Verdana"/>
              </a:rPr>
              <a:t> per </a:t>
            </a:r>
            <a:r>
              <a:rPr lang="en-US" sz="1600" err="1">
                <a:ea typeface="Verdana"/>
              </a:rPr>
              <a:t>ridurre</a:t>
            </a:r>
            <a:r>
              <a:rPr lang="en-US" sz="1600">
                <a:ea typeface="Verdana"/>
              </a:rPr>
              <a:t> al </a:t>
            </a:r>
            <a:r>
              <a:rPr lang="en-US" sz="1600" err="1">
                <a:ea typeface="Verdana"/>
              </a:rPr>
              <a:t>minimo</a:t>
            </a:r>
            <a:r>
              <a:rPr lang="en-US" sz="1600">
                <a:ea typeface="Verdana"/>
              </a:rPr>
              <a:t> il </a:t>
            </a:r>
            <a:r>
              <a:rPr lang="en-US" sz="1600" err="1">
                <a:ea typeface="Verdana"/>
              </a:rPr>
              <a:t>numero</a:t>
            </a:r>
            <a:r>
              <a:rPr lang="en-US" sz="1600">
                <a:ea typeface="Verdana"/>
              </a:rPr>
              <a:t> di test case. </a:t>
            </a:r>
            <a:r>
              <a:rPr lang="en-US" sz="1600" err="1">
                <a:ea typeface="Verdana"/>
              </a:rPr>
              <a:t>L'output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atteso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sarà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determinato</a:t>
            </a:r>
            <a:r>
              <a:rPr lang="en-US" sz="1600">
                <a:ea typeface="Verdana"/>
              </a:rPr>
              <a:t> </a:t>
            </a:r>
            <a:r>
              <a:rPr lang="en-US" sz="1600" err="1">
                <a:ea typeface="Verdana"/>
              </a:rPr>
              <a:t>tramite</a:t>
            </a:r>
            <a:r>
              <a:rPr lang="en-US" sz="1600">
                <a:ea typeface="Verdana"/>
              </a:rPr>
              <a:t> un </a:t>
            </a:r>
            <a:r>
              <a:rPr lang="en-US" sz="1600" b="1" err="1">
                <a:ea typeface="Verdana"/>
              </a:rPr>
              <a:t>oracolo</a:t>
            </a:r>
            <a:r>
              <a:rPr lang="en-US" sz="1600" b="1">
                <a:ea typeface="Verdana"/>
              </a:rPr>
              <a:t> </a:t>
            </a:r>
            <a:r>
              <a:rPr lang="en-US" sz="1600" b="1" err="1">
                <a:ea typeface="Verdana"/>
              </a:rPr>
              <a:t>umano</a:t>
            </a:r>
            <a:r>
              <a:rPr lang="en-US" sz="1600">
                <a:ea typeface="Verdana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sz="1600"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Verdana"/>
              </a:rPr>
              <a:t>Ecco un </a:t>
            </a:r>
            <a:r>
              <a:rPr lang="en-US" sz="1600" err="1">
                <a:ea typeface="Verdana"/>
              </a:rPr>
              <a:t>esempio</a:t>
            </a:r>
            <a:r>
              <a:rPr lang="en-US" sz="1600">
                <a:ea typeface="Verdana"/>
              </a:rPr>
              <a:t> di Test Case:</a:t>
            </a:r>
          </a:p>
        </p:txBody>
      </p:sp>
      <p:pic>
        <p:nvPicPr>
          <p:cNvPr id="10" name="Segnaposto contenuto 9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959BFCC-5EE1-2727-4041-26B625564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82" t="5651" r="9742" b="3411"/>
          <a:stretch/>
        </p:blipFill>
        <p:spPr>
          <a:xfrm>
            <a:off x="3979533" y="846828"/>
            <a:ext cx="6334213" cy="5342643"/>
          </a:xfrm>
        </p:spPr>
      </p:pic>
      <p:pic>
        <p:nvPicPr>
          <p:cNvPr id="11" name="Immagine 10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B511E932-023E-D47F-ECA7-B9AA7A5D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63" t="15135" r="5304" b="29730"/>
          <a:stretch/>
        </p:blipFill>
        <p:spPr>
          <a:xfrm>
            <a:off x="3984351" y="721302"/>
            <a:ext cx="7692998" cy="26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839F09-5DC0-E159-EF27-BA5C3577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590" y="472190"/>
            <a:ext cx="9986898" cy="547141"/>
          </a:xfrm>
        </p:spPr>
        <p:txBody>
          <a:bodyPr anchor="b">
            <a:normAutofit/>
          </a:bodyPr>
          <a:lstStyle/>
          <a:p>
            <a:r>
              <a:rPr lang="it-IT"/>
              <a:t>Test case </a:t>
            </a:r>
            <a:r>
              <a:rPr lang="it-IT" err="1"/>
              <a:t>specification</a:t>
            </a:r>
            <a:endParaRPr lang="it-IT"/>
          </a:p>
        </p:txBody>
      </p:sp>
      <p:pic>
        <p:nvPicPr>
          <p:cNvPr id="7" name="Immagine 6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03FD5627-8099-D7E0-D34E-8E9CF98C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21" y="1253587"/>
            <a:ext cx="5182906" cy="3070870"/>
          </a:xfrm>
          <a:prstGeom prst="rect">
            <a:avLst/>
          </a:prstGeom>
          <a:noFill/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C9EE02-A11A-6198-5DAF-E27F6156E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590" y="1253587"/>
            <a:ext cx="5488410" cy="175241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Nel Test Case </a:t>
            </a:r>
            <a:r>
              <a:rPr lang="it-IT" err="1"/>
              <a:t>Specification</a:t>
            </a:r>
            <a:r>
              <a:rPr lang="it-IT"/>
              <a:t> sono stati documentati i dettagli specifici dei casi di test che sono stati individuati nel test plan.</a:t>
            </a:r>
          </a:p>
          <a:p>
            <a:r>
              <a:rPr lang="it-IT"/>
              <a:t>Ecco degli esempio:</a:t>
            </a:r>
          </a:p>
          <a:p>
            <a:pPr marL="0" indent="0">
              <a:buNone/>
            </a:pP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D46D63-6DCC-B2E9-2965-F0FABF95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53254-B908-48AA-AD9C-DD6CB471EEA6}" type="datetime1">
              <a:rPr lang="en-US"/>
              <a:pPr>
                <a:spcAft>
                  <a:spcPts val="600"/>
                </a:spcAft>
              </a:pPr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50FA0F-66E0-E0F4-ADB0-F3E20800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B6467B-641D-46F9-56FA-DD7451A0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D8EE332-598A-34AE-35A0-E585D0EAD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22" y="3006250"/>
            <a:ext cx="5434838" cy="304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20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BF7CA-5823-EE88-E6D9-ABE10643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6" y="472314"/>
            <a:ext cx="10252108" cy="605957"/>
          </a:xfrm>
        </p:spPr>
        <p:txBody>
          <a:bodyPr/>
          <a:lstStyle/>
          <a:p>
            <a:r>
              <a:rPr lang="it-IT"/>
              <a:t>Tir: test </a:t>
            </a:r>
            <a:r>
              <a:rPr lang="it-IT" err="1"/>
              <a:t>incident</a:t>
            </a:r>
            <a:r>
              <a:rPr lang="it-IT"/>
              <a:t> report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76BCD2-E655-2BF1-9AD5-7E808BED1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006" y="1356793"/>
            <a:ext cx="10273819" cy="318157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>
                <a:ea typeface="+mn-lt"/>
                <a:cs typeface="+mn-lt"/>
              </a:rPr>
              <a:t> I risultati riportati nel Test </a:t>
            </a:r>
            <a:r>
              <a:rPr lang="it-IT" err="1">
                <a:ea typeface="+mn-lt"/>
                <a:cs typeface="+mn-lt"/>
              </a:rPr>
              <a:t>Incident</a:t>
            </a:r>
            <a:r>
              <a:rPr lang="it-IT">
                <a:ea typeface="+mn-lt"/>
                <a:cs typeface="+mn-lt"/>
              </a:rPr>
              <a:t> Report corrispondono all’esecuzione dei test di sistema descritti nel TCS.</a:t>
            </a:r>
            <a:endParaRPr lang="it-IT"/>
          </a:p>
          <a:p>
            <a:r>
              <a:rPr lang="it-IT">
                <a:ea typeface="+mn-lt"/>
                <a:cs typeface="+mn-lt"/>
              </a:rPr>
              <a:t>I test di sistema sono stati eseguiti in </a:t>
            </a:r>
            <a:r>
              <a:rPr lang="it-IT" b="1" err="1">
                <a:ea typeface="+mn-lt"/>
                <a:cs typeface="+mn-lt"/>
              </a:rPr>
              <a:t>localhost</a:t>
            </a:r>
            <a:r>
              <a:rPr lang="it-IT">
                <a:ea typeface="+mn-lt"/>
                <a:cs typeface="+mn-lt"/>
              </a:rPr>
              <a:t>, utilizzando il plugin </a:t>
            </a:r>
            <a:r>
              <a:rPr lang="it-IT" b="1" err="1">
                <a:ea typeface="+mn-lt"/>
                <a:cs typeface="+mn-lt"/>
              </a:rPr>
              <a:t>Selenium</a:t>
            </a:r>
            <a:r>
              <a:rPr lang="it-IT" b="1">
                <a:ea typeface="+mn-lt"/>
                <a:cs typeface="+mn-lt"/>
              </a:rPr>
              <a:t> IDE</a:t>
            </a:r>
            <a:r>
              <a:rPr lang="it-IT">
                <a:ea typeface="+mn-lt"/>
                <a:cs typeface="+mn-lt"/>
              </a:rPr>
              <a:t> per i browser </a:t>
            </a:r>
            <a:r>
              <a:rPr lang="it-IT" b="1">
                <a:ea typeface="+mn-lt"/>
                <a:cs typeface="+mn-lt"/>
              </a:rPr>
              <a:t>Chrome</a:t>
            </a:r>
            <a:r>
              <a:rPr lang="it-IT">
                <a:ea typeface="+mn-lt"/>
                <a:cs typeface="+mn-lt"/>
              </a:rPr>
              <a:t> e </a:t>
            </a:r>
            <a:r>
              <a:rPr lang="it-IT" b="1">
                <a:ea typeface="+mn-lt"/>
                <a:cs typeface="+mn-lt"/>
              </a:rPr>
              <a:t>Firefox</a:t>
            </a:r>
            <a:r>
              <a:rPr lang="it-IT">
                <a:ea typeface="+mn-lt"/>
                <a:cs typeface="+mn-lt"/>
              </a:rPr>
              <a:t>. Questo strumento permette di registrare e riprodurre automaticamente le operazioni dell'utente sull'interfaccia grafica, alla fine di ogni test viene utilizzato un </a:t>
            </a:r>
            <a:r>
              <a:rPr lang="it-IT" b="1" err="1">
                <a:ea typeface="+mn-lt"/>
                <a:cs typeface="+mn-lt"/>
              </a:rPr>
              <a:t>assert</a:t>
            </a:r>
            <a:r>
              <a:rPr lang="it-IT">
                <a:ea typeface="+mn-lt"/>
                <a:cs typeface="+mn-lt"/>
              </a:rPr>
              <a:t> per verificare la correttezza del test.</a:t>
            </a:r>
            <a:endParaRPr lang="it-IT"/>
          </a:p>
          <a:p>
            <a:r>
              <a:rPr lang="it-IT"/>
              <a:t>Ecco un esempio di esecuzione di test tramite </a:t>
            </a:r>
            <a:r>
              <a:rPr lang="it-IT" err="1"/>
              <a:t>Selenium</a:t>
            </a:r>
            <a:r>
              <a:rPr lang="it-IT"/>
              <a:t> IDE: </a:t>
            </a:r>
          </a:p>
          <a:p>
            <a:endParaRPr lang="it-IT"/>
          </a:p>
          <a:p>
            <a:pPr marL="0" indent="0">
              <a:buNone/>
            </a:pPr>
            <a:endParaRPr lang="it-IT"/>
          </a:p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B8DDAC-4E4E-7C83-65DC-C9C99871C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11C55-0C60-412A-A3DA-4F3921CA4628}" type="datetime1">
              <a:rPr lang="en-US"/>
              <a:t>6/26/2025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4E6A9E-C287-B78C-FEC9-E487BE2D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66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039043-DB7C-FA32-C366-08B7219E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Registrazione schermo 2025-01-21 alle 10.17.07">
            <a:hlinkClick r:id="" action="ppaction://media"/>
            <a:extLst>
              <a:ext uri="{FF2B5EF4-FFF2-40B4-BE49-F238E27FC236}">
                <a16:creationId xmlns:a16="http://schemas.microsoft.com/office/drawing/2014/main" id="{3A959850-614E-A483-04BC-AFDA0D15FCD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02001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13199D-66F1-5662-1CEE-36FAB947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E11B-9860-F84D-80D8-89013E2CDA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2AD33B-CC59-5F6E-C3F5-8A92303B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7C4FAB-0387-C9E2-0B9C-3CD151FE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85E5C7-E762-970D-C18A-A473749A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FDD3-4DEF-4F2F-BFED-DD88F99E9D9C}" type="datetime1">
              <a:rPr lang="it-IT"/>
              <a:t>26/06/2025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CA4E83-E084-DA5C-D189-076FA75B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E3C1CB-1C44-5D6A-90A5-B3C503C3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35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4BFF2A-DC42-C4CC-4696-CAA95A34DF60}"/>
              </a:ext>
            </a:extLst>
          </p:cNvPr>
          <p:cNvSpPr txBox="1"/>
          <p:nvPr/>
        </p:nvSpPr>
        <p:spPr>
          <a:xfrm>
            <a:off x="131523" y="8977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>
                <a:solidFill>
                  <a:srgbClr val="2957BD"/>
                </a:solidFill>
                <a:latin typeface="Verdana"/>
              </a:rPr>
              <a:t>Esecuzione 1 </a:t>
            </a:r>
            <a:r>
              <a:rPr lang="it-IT" sz="1400">
                <a:solidFill>
                  <a:srgbClr val="2957BD"/>
                </a:solidFill>
                <a:latin typeface="Verdana"/>
                <a:ea typeface="Verdana"/>
              </a:rPr>
              <a:t> </a:t>
            </a:r>
            <a:endParaRPr lang="it-IT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45A944B-30AF-502C-EF72-A394297CA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50100"/>
              </p:ext>
            </p:extLst>
          </p:nvPr>
        </p:nvGraphicFramePr>
        <p:xfrm>
          <a:off x="232253" y="497979"/>
          <a:ext cx="3739054" cy="538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69527">
                  <a:extLst>
                    <a:ext uri="{9D8B030D-6E8A-4147-A177-3AD203B41FA5}">
                      <a16:colId xmlns:a16="http://schemas.microsoft.com/office/drawing/2014/main" val="308997073"/>
                    </a:ext>
                  </a:extLst>
                </a:gridCol>
                <a:gridCol w="1869527">
                  <a:extLst>
                    <a:ext uri="{9D8B030D-6E8A-4147-A177-3AD203B41FA5}">
                      <a16:colId xmlns:a16="http://schemas.microsoft.com/office/drawing/2014/main" val="3277294157"/>
                    </a:ext>
                  </a:extLst>
                </a:gridCol>
              </a:tblGrid>
              <a:tr h="266139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</a:pPr>
                      <a:r>
                        <a:rPr lang="it-IT" sz="1200" b="1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Test passati   </a:t>
                      </a:r>
                      <a:endParaRPr lang="it-IT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</a:pPr>
                      <a:r>
                        <a:rPr lang="it-IT" sz="1200" b="1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Test non Passati  </a:t>
                      </a:r>
                      <a:endParaRPr lang="it-IT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775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it-IT" sz="1200" b="1">
                          <a:effectLst/>
                          <a:latin typeface="Aptos" panose="020B0004020202020204" pitchFamily="34" charset="0"/>
                        </a:rPr>
                        <a:t> 31 </a:t>
                      </a:r>
                      <a:endParaRPr lang="it-IT" b="1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it-IT" sz="1200" b="1">
                          <a:effectLst/>
                          <a:latin typeface="Aptos" panose="020B0004020202020204" pitchFamily="34" charset="0"/>
                        </a:rPr>
                        <a:t> 1</a:t>
                      </a:r>
                      <a:r>
                        <a:rPr lang="it-IT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it-IT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85787"/>
                  </a:ext>
                </a:extLst>
              </a:tr>
            </a:tbl>
          </a:graphicData>
        </a:graphic>
      </p:graphicFrame>
      <p:pic>
        <p:nvPicPr>
          <p:cNvPr id="16" name="Immagine 15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D6948DE-FC68-A8F9-8D7B-3306199C7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" r="143"/>
          <a:stretch/>
        </p:blipFill>
        <p:spPr>
          <a:xfrm>
            <a:off x="2520228" y="1309659"/>
            <a:ext cx="715664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35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E638954-72CE-5CBD-E727-33C90A10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EBC12-A7EE-46BD-8AC3-E123B15316E0}" type="datetime1">
              <a:rPr lang="it-IT"/>
              <a:t>26/06/2025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F387F8-C4F3-D389-F4FB-96CB082E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CEEC7C-5016-640A-D7F1-C51A87BE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36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9A871D-DB15-9CEA-FB6E-ABAEDCFBB1EC}"/>
              </a:ext>
            </a:extLst>
          </p:cNvPr>
          <p:cNvSpPr txBox="1"/>
          <p:nvPr/>
        </p:nvSpPr>
        <p:spPr>
          <a:xfrm>
            <a:off x="455112" y="89770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>
                <a:solidFill>
                  <a:srgbClr val="2957BD"/>
                </a:solidFill>
                <a:latin typeface="Verdana"/>
              </a:rPr>
              <a:t>Esecuzione 2</a:t>
            </a:r>
            <a:r>
              <a:rPr lang="it-IT" sz="1600">
                <a:solidFill>
                  <a:srgbClr val="0F4761"/>
                </a:solidFill>
                <a:latin typeface="Verdana"/>
              </a:rPr>
              <a:t> </a:t>
            </a:r>
            <a:r>
              <a:rPr lang="it-IT" sz="1600">
                <a:solidFill>
                  <a:srgbClr val="0F4761"/>
                </a:solidFill>
                <a:latin typeface="Verdana"/>
                <a:ea typeface="Verdana"/>
              </a:rPr>
              <a:t> </a:t>
            </a:r>
            <a:endParaRPr lang="it-IT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E303516-2950-95A3-7DC0-FBFFA1ADE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03859"/>
              </p:ext>
            </p:extLst>
          </p:nvPr>
        </p:nvGraphicFramePr>
        <p:xfrm>
          <a:off x="555843" y="424911"/>
          <a:ext cx="5715000" cy="538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77995878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182684649"/>
                    </a:ext>
                  </a:extLst>
                </a:gridCol>
              </a:tblGrid>
              <a:tr h="26613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Test passati   </a:t>
                      </a:r>
                      <a:endParaRPr lang="it-IT" b="1" i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</a:pPr>
                      <a:r>
                        <a:rPr lang="it-IT" sz="1200" b="1" i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Test non Passati  </a:t>
                      </a:r>
                      <a:endParaRPr lang="it-IT" b="1" i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55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D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465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it-IT" sz="1200" b="1" i="0">
                          <a:effectLst/>
                          <a:latin typeface="Aptos"/>
                        </a:rPr>
                        <a:t> 32 </a:t>
                      </a:r>
                      <a:endParaRPr lang="it-IT" b="1" i="0">
                        <a:effectLst/>
                        <a:latin typeface="Apto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it-IT" sz="1200" b="0" i="0">
                          <a:effectLst/>
                          <a:latin typeface="Aptos"/>
                        </a:rPr>
                        <a:t> </a:t>
                      </a:r>
                      <a:r>
                        <a:rPr lang="it-IT" sz="1200" b="1" i="0">
                          <a:effectLst/>
                          <a:latin typeface="Aptos"/>
                        </a:rPr>
                        <a:t>0</a:t>
                      </a:r>
                      <a:r>
                        <a:rPr lang="it-IT" sz="1200" b="0" i="0">
                          <a:effectLst/>
                          <a:latin typeface="Aptos"/>
                        </a:rPr>
                        <a:t> </a:t>
                      </a:r>
                      <a:endParaRPr lang="it-IT" b="0" i="0">
                        <a:effectLst/>
                        <a:latin typeface="Apto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C9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00908"/>
                  </a:ext>
                </a:extLst>
              </a:tr>
            </a:tbl>
          </a:graphicData>
        </a:graphic>
      </p:graphicFrame>
      <p:pic>
        <p:nvPicPr>
          <p:cNvPr id="6" name="Immagine 5" descr="Immagine che contiene testo, schermata, Carattere, numer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11CA558-128D-1E87-F832-1F2009E5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4" r="1224" b="248"/>
          <a:stretch/>
        </p:blipFill>
        <p:spPr>
          <a:xfrm>
            <a:off x="2481393" y="1449235"/>
            <a:ext cx="7239920" cy="419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91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A30A4E-E59E-F987-B6A6-1AA625A0A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1371599" y="786882"/>
            <a:ext cx="8610685" cy="512518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it-IT" b="1"/>
              <a:t>Testing di unità e di integrazione</a:t>
            </a:r>
            <a:r>
              <a:rPr lang="it-IT"/>
              <a:t>: copertura delle classi relative alle funzionalità previste nel test plan è stata misurata utilizzando </a:t>
            </a:r>
            <a:r>
              <a:rPr lang="it-IT" b="1" err="1"/>
              <a:t>IntelliJ</a:t>
            </a:r>
            <a:r>
              <a:rPr lang="it-IT" b="1"/>
              <a:t> Code Coverage</a:t>
            </a:r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r>
              <a:rPr lang="it-IT" b="1"/>
              <a:t>Testing di sistema: </a:t>
            </a:r>
            <a:r>
              <a:rPr lang="it-IT"/>
              <a:t>mostra un riassunto dei risultati delle esecuzioni tramite </a:t>
            </a:r>
            <a:r>
              <a:rPr lang="it-IT" b="1" err="1"/>
              <a:t>Selenium</a:t>
            </a:r>
            <a:r>
              <a:rPr lang="it-IT" b="1"/>
              <a:t> IDE </a:t>
            </a:r>
            <a:r>
              <a:rPr lang="it-IT"/>
              <a:t>riportati nel Test </a:t>
            </a:r>
            <a:r>
              <a:rPr lang="it-IT" err="1"/>
              <a:t>Incident</a:t>
            </a:r>
            <a:r>
              <a:rPr lang="it-IT"/>
              <a:t> Report.</a:t>
            </a:r>
            <a:endParaRPr lang="it-IT" b="1"/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endParaRPr lang="it-IT" b="1"/>
          </a:p>
          <a:p>
            <a:pPr marL="0" indent="0">
              <a:buNone/>
            </a:pPr>
            <a:endParaRPr lang="it-IT" b="1"/>
          </a:p>
          <a:p>
            <a:pPr marL="0" indent="0">
              <a:buNone/>
            </a:pPr>
            <a:endParaRPr lang="it-IT" b="1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22BAF8E-9BE7-91A8-1252-36B633D9A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19" y="1964276"/>
            <a:ext cx="5781459" cy="201179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528FA9D-888B-4202-BB18-EC12977C5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19" y="1964276"/>
            <a:ext cx="5781459" cy="206268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976BDEA-BE13-A34D-938C-00FBE7FE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46542"/>
            <a:ext cx="10240903" cy="540340"/>
          </a:xfrm>
        </p:spPr>
        <p:txBody>
          <a:bodyPr>
            <a:normAutofit fontScale="90000"/>
          </a:bodyPr>
          <a:lstStyle/>
          <a:p>
            <a:r>
              <a:rPr lang="it-IT"/>
              <a:t>TSR: Test </a:t>
            </a:r>
            <a:r>
              <a:rPr lang="it-IT" err="1"/>
              <a:t>summary</a:t>
            </a:r>
            <a:r>
              <a:rPr lang="it-IT"/>
              <a:t> report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2D4FB7-FBC2-B71C-4345-876F1AF3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C739-93EC-4C5F-A96F-67BD51598C7B}" type="datetime1">
              <a:rPr lang="en-US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11215A-C4EF-6EBD-818B-F8B530C7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4CF374-1487-26BB-1F3E-832A6AB4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37</a:t>
            </a:fld>
            <a:endParaRPr lang="en-US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3970DF0-A75A-4639-7325-889985E85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719" y="5182084"/>
            <a:ext cx="7372847" cy="7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C2490E-95E2-D357-9269-B5A7CEFB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76" y="235798"/>
            <a:ext cx="10258624" cy="604395"/>
          </a:xfrm>
        </p:spPr>
        <p:txBody>
          <a:bodyPr>
            <a:normAutofit/>
          </a:bodyPr>
          <a:lstStyle/>
          <a:p>
            <a:r>
              <a:rPr lang="it-IT"/>
              <a:t>WRap-up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DD5A35-196D-2BC1-31F2-EAE6BBE0C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76" y="839960"/>
            <a:ext cx="10285204" cy="556878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it-IT" b="1"/>
              <a:t>Cosa è andato bene:</a:t>
            </a:r>
          </a:p>
          <a:p>
            <a:pPr lvl="1"/>
            <a:r>
              <a:rPr lang="it-IT">
                <a:ea typeface="+mn-lt"/>
                <a:cs typeface="+mn-lt"/>
              </a:rPr>
              <a:t>Raggiungere compromessi su questioni inizialmente discordanti.</a:t>
            </a:r>
            <a:endParaRPr lang="it-IT"/>
          </a:p>
          <a:p>
            <a:pPr lvl="1"/>
            <a:r>
              <a:rPr lang="it-IT"/>
              <a:t>Rispetto delle scadenze prefissate inizialmente</a:t>
            </a:r>
          </a:p>
          <a:p>
            <a:pPr marL="0" indent="0">
              <a:buNone/>
            </a:pPr>
            <a:r>
              <a:rPr lang="it-IT" b="1"/>
              <a:t>Cosa è andato storto:</a:t>
            </a:r>
          </a:p>
          <a:p>
            <a:pPr lvl="1"/>
            <a:r>
              <a:rPr lang="it-IT"/>
              <a:t>Revisione finale </a:t>
            </a:r>
          </a:p>
          <a:p>
            <a:pPr lvl="1"/>
            <a:r>
              <a:rPr lang="it-IT"/>
              <a:t>Difficoltà iniziali nella suddivisione del lavoro</a:t>
            </a:r>
          </a:p>
          <a:p>
            <a:pPr marL="0" indent="0">
              <a:buNone/>
            </a:pPr>
            <a:r>
              <a:rPr lang="it-IT" b="1"/>
              <a:t>Lezioni imparate</a:t>
            </a:r>
            <a:r>
              <a:rPr lang="it-IT"/>
              <a:t>:</a:t>
            </a:r>
          </a:p>
          <a:p>
            <a:pPr marL="800100" lvl="1" indent="-342900"/>
            <a:r>
              <a:rPr lang="it-IT"/>
              <a:t>Organizzarsi e lavorare in gruppo anche con persone che inizialmente non si conoscevano</a:t>
            </a:r>
          </a:p>
          <a:p>
            <a:pPr marL="800100" lvl="1" indent="-342900"/>
            <a:r>
              <a:rPr lang="it-IT"/>
              <a:t>Documentare e commentare in modo appropriato il sistema</a:t>
            </a:r>
          </a:p>
          <a:p>
            <a:pPr marL="800100" lvl="1" indent="-342900"/>
            <a:r>
              <a:rPr lang="it-IT"/>
              <a:t>Concetto di testing </a:t>
            </a:r>
          </a:p>
          <a:p>
            <a:pPr marL="800100" lvl="1" indent="-342900"/>
            <a:r>
              <a:rPr lang="it-IT"/>
              <a:t>Utilizzo di pull-</a:t>
            </a:r>
            <a:r>
              <a:rPr lang="it-IT" err="1"/>
              <a:t>based</a:t>
            </a:r>
            <a:r>
              <a:rPr lang="it-IT"/>
              <a:t> </a:t>
            </a:r>
            <a:r>
              <a:rPr lang="it-IT" err="1"/>
              <a:t>development</a:t>
            </a:r>
            <a:endParaRPr lang="it-IT"/>
          </a:p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8E4CCE-F131-C245-0DC2-82E797ED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AEFAE-464B-4602-854D-B4D708F1982D}" type="datetime1">
              <a:rPr lang="it-IT"/>
              <a:t>26/06/2025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2C9375-8B0C-C049-C16F-A0BE9D0E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6134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38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39" baseType="lpstr">
      <vt:lpstr>GradientRiseVTI</vt:lpstr>
      <vt:lpstr>Progetto Digitronics  Gruppo nc26</vt:lpstr>
      <vt:lpstr>Obiettivo del sistema</vt:lpstr>
      <vt:lpstr>Strumenti utilizzati </vt:lpstr>
      <vt:lpstr>Requisiti funzionali</vt:lpstr>
      <vt:lpstr>Requisiti non funzionali</vt:lpstr>
      <vt:lpstr>Scenario modifica prodotto</vt:lpstr>
      <vt:lpstr>Use case Modifica Prodotto</vt:lpstr>
      <vt:lpstr>Use case aggiunta recensione</vt:lpstr>
      <vt:lpstr>Use case checkout prodotti</vt:lpstr>
      <vt:lpstr>Presentazione standard di PowerPoint</vt:lpstr>
      <vt:lpstr>Entity Class diagram</vt:lpstr>
      <vt:lpstr>Sequence diagram SD_GP_1: Aggiunta recensione</vt:lpstr>
      <vt:lpstr>Presentazione standard di PowerPoint</vt:lpstr>
      <vt:lpstr>Activity diagram AD_GP_2: Modifica prodotto</vt:lpstr>
      <vt:lpstr>Path navigazionali</vt:lpstr>
      <vt:lpstr>Mock-up</vt:lpstr>
      <vt:lpstr>DEsign goal</vt:lpstr>
      <vt:lpstr>Trade off</vt:lpstr>
      <vt:lpstr>Component diagram</vt:lpstr>
      <vt:lpstr>Deployement diagram</vt:lpstr>
      <vt:lpstr>Architectural diagram</vt:lpstr>
      <vt:lpstr>Entity Class diagram ristrutturato</vt:lpstr>
      <vt:lpstr>Controllo degli accessi e sicurezza e controllo globale</vt:lpstr>
      <vt:lpstr>UcD boundary: UCBC_1 </vt:lpstr>
      <vt:lpstr>UcD boundary: UCBC_2 </vt:lpstr>
      <vt:lpstr>UcD boundary: UCBC_3</vt:lpstr>
      <vt:lpstr>Pattern adapter</vt:lpstr>
      <vt:lpstr>Pattern facade</vt:lpstr>
      <vt:lpstr>Test plan: Approccio</vt:lpstr>
      <vt:lpstr>Presentazione standard di PowerPoint</vt:lpstr>
      <vt:lpstr>Test case: REcensione</vt:lpstr>
      <vt:lpstr>Test case specification</vt:lpstr>
      <vt:lpstr>Tir: test incident report </vt:lpstr>
      <vt:lpstr>Presentazione standard di PowerPoint</vt:lpstr>
      <vt:lpstr>Presentazione standard di PowerPoint</vt:lpstr>
      <vt:lpstr>Presentazione standard di PowerPoint</vt:lpstr>
      <vt:lpstr>TSR: Test summary report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2025-01-18T08:38:39Z</dcterms:created>
  <dcterms:modified xsi:type="dcterms:W3CDTF">2025-06-26T21:11:30Z</dcterms:modified>
</cp:coreProperties>
</file>